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5" r:id="rId5"/>
    <p:sldMasterId id="2147483667" r:id="rId6"/>
  </p:sldMasterIdLst>
  <p:notesMasterIdLst>
    <p:notesMasterId r:id="rId9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7"/>
    <p:sldId id="344" r:id="rId18"/>
    <p:sldId id="345" r:id="rId19"/>
    <p:sldId id="342" r:id="rId20"/>
    <p:sldId id="343" r:id="rId21"/>
    <p:sldId id="267" r:id="rId22"/>
    <p:sldId id="341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</p:sldIdLst>
  <p:sldSz cx="9144000" cy="6858000" type="screen4x3"/>
  <p:notesSz cx="6858000" cy="9144000"/>
  <p:embeddedFontLst>
    <p:embeddedFont>
      <p:font typeface="Malgun Gothic" panose="020B0503020000020004" pitchFamily="50" charset="-127"/>
      <p:regular r:id="rId97"/>
      <p:bold r:id="rId98"/>
    </p:embeddedFont>
    <p:embeddedFont>
      <p:font typeface="Inter" panose="020B0600000101010101" charset="0"/>
      <p:regular r:id="rId99"/>
      <p:bold r:id="rId100"/>
      <p:italic r:id="rId101"/>
      <p:boldItalic r:id="rId102"/>
    </p:embeddedFont>
    <p:embeddedFont>
      <p:font typeface="Trebuchet MS" panose="020B0603020202020204" pitchFamily="34" charset="0"/>
      <p:regular r:id="rId103"/>
      <p:bold r:id="rId104"/>
      <p:italic r:id="rId105"/>
      <p:boldItalic r:id="rId10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7" roundtripDataSignature="AMtx7mix4paDSok+PN41PLycO9/MacoD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24DEBC-D79E-40AC-A51A-4CA8C37E4606}">
  <a:tblStyle styleId="{2124DEBC-D79E-40AC-A51A-4CA8C37E46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42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07" Type="http://customschemas.google.com/relationships/presentationmetadata" Target="metadata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font" Target="fonts/font7.fntdata"/><Relationship Id="rId108" Type="http://schemas.openxmlformats.org/officeDocument/2006/relationships/presProps" Target="presProps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font" Target="fonts/font10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font" Target="fonts/font3.fntdata"/><Relationship Id="rId10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viewProps" Target="viewProps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font" Target="fonts/font1.fntdata"/><Relationship Id="rId104" Type="http://schemas.openxmlformats.org/officeDocument/2006/relationships/font" Target="fonts/font8.fntdata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theme" Target="theme/theme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font" Target="fonts/font4.fntdata"/><Relationship Id="rId105" Type="http://schemas.openxmlformats.org/officeDocument/2006/relationships/font" Target="fonts/font9.fntdata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font" Target="fonts/font2.fntdata"/><Relationship Id="rId3" Type="http://schemas.openxmlformats.org/officeDocument/2006/relationships/customXml" Target="../customXml/item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74BC1646-C42A-AE1E-F48C-D6FF0FBE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:notes">
            <a:extLst>
              <a:ext uri="{FF2B5EF4-FFF2-40B4-BE49-F238E27FC236}">
                <a16:creationId xmlns:a16="http://schemas.microsoft.com/office/drawing/2014/main" id="{D2D6132E-11B6-5AE7-C5CA-D2A594D7C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3:notes">
            <a:extLst>
              <a:ext uri="{FF2B5EF4-FFF2-40B4-BE49-F238E27FC236}">
                <a16:creationId xmlns:a16="http://schemas.microsoft.com/office/drawing/2014/main" id="{B9F67B7D-13C5-24B2-AD7C-81274951F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40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C8B53663-DC51-C4BF-9EF1-0B569E20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:notes">
            <a:extLst>
              <a:ext uri="{FF2B5EF4-FFF2-40B4-BE49-F238E27FC236}">
                <a16:creationId xmlns:a16="http://schemas.microsoft.com/office/drawing/2014/main" id="{44839DDA-32C9-F6F6-48A6-DE5417150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3:notes">
            <a:extLst>
              <a:ext uri="{FF2B5EF4-FFF2-40B4-BE49-F238E27FC236}">
                <a16:creationId xmlns:a16="http://schemas.microsoft.com/office/drawing/2014/main" id="{A7AC6DA7-31F0-7AB5-ED4C-2F32D8B53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5067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C83BAD80-C983-1B84-2440-82945718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:notes">
            <a:extLst>
              <a:ext uri="{FF2B5EF4-FFF2-40B4-BE49-F238E27FC236}">
                <a16:creationId xmlns:a16="http://schemas.microsoft.com/office/drawing/2014/main" id="{814F3953-4512-2E5E-424D-5572BA5B1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3:notes">
            <a:extLst>
              <a:ext uri="{FF2B5EF4-FFF2-40B4-BE49-F238E27FC236}">
                <a16:creationId xmlns:a16="http://schemas.microsoft.com/office/drawing/2014/main" id="{DC142FDE-E937-4F06-DCA6-15106F7E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1893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113D49B-ECEC-4D65-DEB7-2F6D484E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:notes">
            <a:extLst>
              <a:ext uri="{FF2B5EF4-FFF2-40B4-BE49-F238E27FC236}">
                <a16:creationId xmlns:a16="http://schemas.microsoft.com/office/drawing/2014/main" id="{C7B63BE1-2786-AA11-F401-C3B494F27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3:notes">
            <a:extLst>
              <a:ext uri="{FF2B5EF4-FFF2-40B4-BE49-F238E27FC236}">
                <a16:creationId xmlns:a16="http://schemas.microsoft.com/office/drawing/2014/main" id="{B9ED1134-2A82-894A-9EE7-57B371694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5796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9CD8766E-3B25-79A4-B7A6-271BD213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:notes">
            <a:extLst>
              <a:ext uri="{FF2B5EF4-FFF2-40B4-BE49-F238E27FC236}">
                <a16:creationId xmlns:a16="http://schemas.microsoft.com/office/drawing/2014/main" id="{25FC2A42-7417-2EF2-DDB2-FF7B36781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2:notes">
            <a:extLst>
              <a:ext uri="{FF2B5EF4-FFF2-40B4-BE49-F238E27FC236}">
                <a16:creationId xmlns:a16="http://schemas.microsoft.com/office/drawing/2014/main" id="{ADD0AB5D-55A1-3B0E-9425-BB2B88EA4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9464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9" name="Google Shape;1689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87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8" name="Google Shape;28;p87"/>
            <p:cNvCxnSpPr/>
            <p:nvPr/>
          </p:nvCxnSpPr>
          <p:spPr>
            <a:xfrm rot="10800000" flipH="1">
              <a:off x="5130830" y="4175605"/>
              <a:ext cx="4022475" cy="268239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87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" name="Google Shape;30;p87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" name="Google Shape;31;p87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" name="Google Shape;32;p87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" name="Google Shape;33;p87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" name="Google Shape;34;p87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" name="Google Shape;35;p87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" name="Google Shape;36;p87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" name="Google Shape;37;p8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8" name="Google Shape;38;p87"/>
          <p:cNvSpPr txBox="1"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7"/>
          <p:cNvSpPr txBox="1"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7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7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7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8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8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88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8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8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9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9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9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9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0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0"/>
          <p:cNvSpPr txBox="1">
            <a:spLocks noGrp="1"/>
          </p:cNvSpPr>
          <p:nvPr>
            <p:ph type="body" idx="1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7" name="Google Shape;57;p90"/>
          <p:cNvSpPr txBox="1">
            <a:spLocks noGrp="1"/>
          </p:cNvSpPr>
          <p:nvPr>
            <p:ph type="body" idx="2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8" name="Google Shape;58;p90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0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0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3"/>
          <p:cNvSpPr txBox="1"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3"/>
          <p:cNvSpPr txBox="1"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93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3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4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4"/>
          <p:cNvSpPr txBox="1"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94"/>
          <p:cNvSpPr txBox="1">
            <a:spLocks noGrp="1"/>
          </p:cNvSpPr>
          <p:nvPr>
            <p:ph type="body" idx="2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1" name="Google Shape;71;p94"/>
          <p:cNvSpPr txBox="1">
            <a:spLocks noGrp="1"/>
          </p:cNvSpPr>
          <p:nvPr>
            <p:ph type="body" idx="3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94"/>
          <p:cNvSpPr txBox="1">
            <a:spLocks noGrp="1"/>
          </p:cNvSpPr>
          <p:nvPr>
            <p:ph type="body" idx="4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3" name="Google Shape;73;p94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4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5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5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5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6"/>
          <p:cNvSpPr txBox="1"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6"/>
          <p:cNvSpPr txBox="1">
            <a:spLocks noGrp="1"/>
          </p:cNvSpPr>
          <p:nvPr>
            <p:ph type="body" idx="1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96"/>
          <p:cNvSpPr txBox="1">
            <a:spLocks noGrp="1"/>
          </p:cNvSpPr>
          <p:nvPr>
            <p:ph type="body" idx="2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>
            <a:endParaRPr/>
          </a:p>
        </p:txBody>
      </p:sp>
      <p:sp>
        <p:nvSpPr>
          <p:cNvPr id="84" name="Google Shape;84;p96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6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7"/>
          <p:cNvSpPr txBox="1"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7"/>
          <p:cNvSpPr>
            <a:spLocks noGrp="1"/>
          </p:cNvSpPr>
          <p:nvPr>
            <p:ph type="pic" idx="2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97"/>
          <p:cNvSpPr txBox="1">
            <a:spLocks noGrp="1"/>
          </p:cNvSpPr>
          <p:nvPr>
            <p:ph type="body" idx="1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97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7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97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캡션">
  <p:cSld name="제목 및 캡션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8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8"/>
          <p:cNvSpPr txBox="1"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98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8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8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인용문">
  <p:cSld name="캡션 있는 인용문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9"/>
          <p:cNvSpPr txBox="1"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99"/>
          <p:cNvSpPr txBox="1">
            <a:spLocks noGrp="1"/>
          </p:cNvSpPr>
          <p:nvPr>
            <p:ph type="body" idx="1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99"/>
          <p:cNvSpPr txBox="1">
            <a:spLocks noGrp="1"/>
          </p:cNvSpPr>
          <p:nvPr>
            <p:ph type="body" idx="2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99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99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99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07" name="Google Shape;107;p99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99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명함">
  <p:cSld name="명함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0"/>
          <p:cNvSpPr txBox="1"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00"/>
          <p:cNvSpPr txBox="1"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00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00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00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인용문 있는 명함">
  <p:cSld name="인용문 있는 명함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1"/>
          <p:cNvSpPr txBox="1"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01"/>
          <p:cNvSpPr txBox="1">
            <a:spLocks noGrp="1"/>
          </p:cNvSpPr>
          <p:nvPr>
            <p:ph type="body" idx="1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101"/>
          <p:cNvSpPr txBox="1">
            <a:spLocks noGrp="1"/>
          </p:cNvSpPr>
          <p:nvPr>
            <p:ph type="body" idx="2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01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01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01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2" name="Google Shape;122;p101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101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참 또는 거짓">
  <p:cSld name="참 또는 거짓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2"/>
          <p:cNvSpPr txBox="1"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02"/>
          <p:cNvSpPr txBox="1">
            <a:spLocks noGrp="1"/>
          </p:cNvSpPr>
          <p:nvPr>
            <p:ph type="body" idx="1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102"/>
          <p:cNvSpPr txBox="1">
            <a:spLocks noGrp="1"/>
          </p:cNvSpPr>
          <p:nvPr>
            <p:ph type="body" idx="2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02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02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0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3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03"/>
          <p:cNvSpPr txBox="1">
            <a:spLocks noGrp="1"/>
          </p:cNvSpPr>
          <p:nvPr>
            <p:ph type="body" idx="1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103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03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4"/>
          <p:cNvSpPr txBox="1">
            <a:spLocks noGrp="1"/>
          </p:cNvSpPr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04"/>
          <p:cNvSpPr txBox="1">
            <a:spLocks noGrp="1"/>
          </p:cNvSpPr>
          <p:nvPr>
            <p:ph type="body" idx="1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104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04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2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92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92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9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6"/>
          <p:cNvSpPr txBox="1"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0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74" name="Google Shape;174;p10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0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06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7"/>
          <p:cNvSpPr txBox="1"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07"/>
          <p:cNvSpPr txBox="1"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80" name="Google Shape;180;p10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0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07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8"/>
          <p:cNvSpPr txBox="1"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08"/>
          <p:cNvSpPr txBox="1"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10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0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08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9"/>
          <p:cNvSpPr txBox="1"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09"/>
          <p:cNvSpPr txBox="1">
            <a:spLocks noGrp="1"/>
          </p:cNvSpPr>
          <p:nvPr>
            <p:ph type="body" idx="1"/>
          </p:nvPr>
        </p:nvSpPr>
        <p:spPr>
          <a:xfrm>
            <a:off x="633845" y="1828801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2" name="Google Shape;192;p109"/>
          <p:cNvSpPr txBox="1">
            <a:spLocks noGrp="1"/>
          </p:cNvSpPr>
          <p:nvPr>
            <p:ph type="body" idx="2"/>
          </p:nvPr>
        </p:nvSpPr>
        <p:spPr>
          <a:xfrm>
            <a:off x="4629150" y="1828801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3" name="Google Shape;193;p10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0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09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>
  <p:cSld name="비교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0"/>
          <p:cNvSpPr txBox="1"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8" name="Google Shape;198;p110"/>
          <p:cNvSpPr txBox="1">
            <a:spLocks noGrp="1"/>
          </p:cNvSpPr>
          <p:nvPr>
            <p:ph type="body" idx="2"/>
          </p:nvPr>
        </p:nvSpPr>
        <p:spPr>
          <a:xfrm>
            <a:off x="633845" y="2507551"/>
            <a:ext cx="3867150" cy="368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9" name="Google Shape;199;p110"/>
          <p:cNvSpPr txBox="1">
            <a:spLocks noGrp="1"/>
          </p:cNvSpPr>
          <p:nvPr>
            <p:ph type="body" idx="3"/>
          </p:nvPr>
        </p:nvSpPr>
        <p:spPr>
          <a:xfrm>
            <a:off x="4629150" y="1681851"/>
            <a:ext cx="3886201" cy="8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0" name="Google Shape;200;p110"/>
          <p:cNvSpPr txBox="1">
            <a:spLocks noGrp="1"/>
          </p:cNvSpPr>
          <p:nvPr>
            <p:ph type="body" idx="4"/>
          </p:nvPr>
        </p:nvSpPr>
        <p:spPr>
          <a:xfrm>
            <a:off x="4629150" y="2507551"/>
            <a:ext cx="3886201" cy="368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1" name="Google Shape;201;p1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10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04" name="Google Shape;204;p110"/>
          <p:cNvSpPr txBox="1"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>
  <p:cSld name="제목만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11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09" name="Google Shape;209;p111"/>
          <p:cNvSpPr txBox="1"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12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3"/>
          <p:cNvSpPr txBox="1"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13"/>
          <p:cNvSpPr txBox="1">
            <a:spLocks noGrp="1"/>
          </p:cNvSpPr>
          <p:nvPr>
            <p:ph type="body" idx="1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17" name="Google Shape;217;p113"/>
          <p:cNvSpPr txBox="1">
            <a:spLocks noGrp="1"/>
          </p:cNvSpPr>
          <p:nvPr>
            <p:ph type="body" idx="2"/>
          </p:nvPr>
        </p:nvSpPr>
        <p:spPr>
          <a:xfrm>
            <a:off x="630936" y="2057399"/>
            <a:ext cx="294894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18" name="Google Shape;218;p1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13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4"/>
          <p:cNvSpPr txBox="1"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14"/>
          <p:cNvSpPr>
            <a:spLocks noGrp="1"/>
          </p:cNvSpPr>
          <p:nvPr>
            <p:ph type="pic" idx="2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14"/>
          <p:cNvSpPr txBox="1">
            <a:spLocks noGrp="1"/>
          </p:cNvSpPr>
          <p:nvPr>
            <p:ph type="body" idx="1"/>
          </p:nvPr>
        </p:nvSpPr>
        <p:spPr>
          <a:xfrm>
            <a:off x="630936" y="2057400"/>
            <a:ext cx="294894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25" name="Google Shape;225;p1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14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5"/>
          <p:cNvSpPr txBox="1"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15"/>
          <p:cNvSpPr txBox="1">
            <a:spLocks noGrp="1"/>
          </p:cNvSpPr>
          <p:nvPr>
            <p:ph type="body" idx="1"/>
          </p:nvPr>
        </p:nvSpPr>
        <p:spPr>
          <a:xfrm rot="5400000">
            <a:off x="2401526" y="61119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31" name="Google Shape;231;p1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15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6"/>
          <p:cNvSpPr txBox="1">
            <a:spLocks noGrp="1"/>
          </p:cNvSpPr>
          <p:nvPr>
            <p:ph type="title"/>
          </p:nvPr>
        </p:nvSpPr>
        <p:spPr>
          <a:xfrm rot="5400000">
            <a:off x="4623594" y="2280443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16"/>
          <p:cNvSpPr txBox="1">
            <a:spLocks noGrp="1"/>
          </p:cNvSpPr>
          <p:nvPr>
            <p:ph type="body" idx="1"/>
          </p:nvPr>
        </p:nvSpPr>
        <p:spPr>
          <a:xfrm rot="5400000">
            <a:off x="623094" y="365919"/>
            <a:ext cx="5811837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37" name="Google Shape;237;p1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16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11" name="Google Shape;11;p8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86"/>
            <p:cNvCxnSpPr/>
            <p:nvPr/>
          </p:nvCxnSpPr>
          <p:spPr>
            <a:xfrm rot="10800000" flipH="1">
              <a:off x="5130830" y="4175605"/>
              <a:ext cx="4022475" cy="268239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86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" name="Google Shape;14;p86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86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86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86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86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86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86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86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86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2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86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86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8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1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145" name="Google Shape;145;p91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46" name="Google Shape;146;p91"/>
            <p:cNvCxnSpPr/>
            <p:nvPr/>
          </p:nvCxnSpPr>
          <p:spPr>
            <a:xfrm rot="10800000" flipH="1">
              <a:off x="5130830" y="4175605"/>
              <a:ext cx="4022475" cy="268239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" name="Google Shape;147;p91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8" name="Google Shape;148;p91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9" name="Google Shape;149;p91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0" name="Google Shape;150;p9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1" name="Google Shape;151;p9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2" name="Google Shape;152;p91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3" name="Google Shape;153;p91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4" name="Google Shape;154;p91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55" name="Google Shape;155;p91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1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2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7" name="Google Shape;157;p91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8" name="Google Shape;158;p91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9" name="Google Shape;159;p91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5"/>
          <p:cNvSpPr txBox="1"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105"/>
          <p:cNvSpPr txBox="1"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8" name="Google Shape;168;p10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10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0" name="Google Shape;170;p105"/>
          <p:cNvSpPr txBox="1">
            <a:spLocks noGrp="1"/>
          </p:cNvSpPr>
          <p:nvPr>
            <p:ph type="sldNum" idx="12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main.py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repository.py/" TargetMode="External"/><Relationship Id="rId4" Type="http://schemas.openxmlformats.org/officeDocument/2006/relationships/hyperlink" Target="http://schemas.py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settings.py/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variables.tf/" TargetMode="External"/><Relationship Id="rId4" Type="http://schemas.openxmlformats.org/officeDocument/2006/relationships/hyperlink" Target="http://main.tf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"/>
          <p:cNvPicPr preferRelativeResize="0"/>
          <p:nvPr/>
        </p:nvPicPr>
        <p:blipFill rotWithShape="1">
          <a:blip r:embed="rId3">
            <a:alphaModFix/>
          </a:blip>
          <a:srcRect l="5177" r="3" b="3899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"/>
          <p:cNvSpPr txBox="1"/>
          <p:nvPr/>
        </p:nvSpPr>
        <p:spPr>
          <a:xfrm>
            <a:off x="3528150" y="1678665"/>
            <a:ext cx="3427352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SW개발/HW제작 설계서</a:t>
            </a:r>
            <a:endParaRPr sz="26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2600" b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STREW_VISION ARCHITECHER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2600" b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SW/HW DEVELOPMENT</a:t>
            </a:r>
            <a:endParaRPr/>
          </a:p>
        </p:txBody>
      </p:sp>
      <p:sp>
        <p:nvSpPr>
          <p:cNvPr id="246" name="Google Shape;246;p1"/>
          <p:cNvSpPr txBox="1"/>
          <p:nvPr/>
        </p:nvSpPr>
        <p:spPr>
          <a:xfrm>
            <a:off x="3525723" y="4050832"/>
            <a:ext cx="3429777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명 : STREW_VISION</a:t>
            </a:r>
            <a:endParaRPr/>
          </a:p>
        </p:txBody>
      </p:sp>
      <p:pic>
        <p:nvPicPr>
          <p:cNvPr id="247" name="Google Shape;247;p1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3" name="Google Shape;253;p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수행 단계별 주요 산출물</a:t>
            </a:r>
            <a:endParaRPr/>
          </a:p>
        </p:txBody>
      </p:sp>
      <p:sp>
        <p:nvSpPr>
          <p:cNvPr id="256" name="Google Shape;256;p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2"/>
          <p:cNvSpPr txBox="1"/>
          <p:nvPr/>
        </p:nvSpPr>
        <p:spPr>
          <a:xfrm>
            <a:off x="567449" y="6293030"/>
            <a:ext cx="18443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※ ○ 필수, △ 선택</a:t>
            </a:r>
            <a:endParaRPr/>
          </a:p>
        </p:txBody>
      </p:sp>
      <p:pic>
        <p:nvPicPr>
          <p:cNvPr id="258" name="Google Shape;258;p2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2"/>
          <p:cNvGraphicFramePr/>
          <p:nvPr/>
        </p:nvGraphicFramePr>
        <p:xfrm>
          <a:off x="323528" y="1579930"/>
          <a:ext cx="8352925" cy="443885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20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선정 산출물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우선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구체화 필요도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환경 분석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시장/기술 환경 분석서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△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농업 인력난, 병해충 조기 대응, 스마트팜 동향 중심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 분석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 정의서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S/W, H/W, 운영자 요구사항을 기능 ID로 연결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 분석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유즈케이스 정의서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운영자, ,Jetson, 로봇 제어부 역할 정의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아키텍처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구성도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센서 → STM32 → Jetson → DB → 로봇제어부 흐름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아키텍처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흐름도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 시작부터 검사/로그 저장까지 이벤트 흐름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아키텍처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하드웨어/센서 구성도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온습도 센서 4개, 리미트 스위치 4개, 카메라, 제어부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설계서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○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위치, 센서값, 검사결과, 로그, 비상정지/재개 UI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ERD/테이블 정의서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pot, sensor_reading, robot_position_log, vision_inspection_log 등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처리도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ARRIVED → PLANT_ID → 비전검사 → 판정 → 로그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알고리즘 명세서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LIMIT 매핑, 검사 조건, discard 판단, 예외 처리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개발/구현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목록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○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COM/POS/SNS/VIS/DEC/CTRL/LOG 모듈 목록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개발/구현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 소스코드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STM32 수신, 식물 ID 판별, 비전 검사, STOP/RESUME 처리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비상정지/재개 시나리오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◎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0" i="0" u="none" strike="noStrike" cap="none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안전 우선순위와 재개 전 위치 재확인</a:t>
                      </a:r>
                      <a:endParaRPr sz="2000" u="none" strike="noStrike" cap="none"/>
                    </a:p>
                  </a:txBody>
                  <a:tcPr marL="57175" marR="57175" marT="42875" marB="4287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3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65" name="Google Shape;265;p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6" name="Google Shape;266;p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7" name="Google Shape;267;p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275" name="Google Shape;275;p3"/>
          <p:cNvPicPr preferRelativeResize="0"/>
          <p:nvPr/>
        </p:nvPicPr>
        <p:blipFill rotWithShape="1">
          <a:blip>
            <a:alphaModFix/>
          </a:blip>
          <a:srcRect l="36258" r="25489" b="5248"/>
          <a:stretch/>
        </p:blipFill>
        <p:spPr>
          <a:xfrm>
            <a:off x="3842657" y="-1"/>
            <a:ext cx="5298961" cy="6858001"/>
          </a:xfrm>
          <a:custGeom>
            <a:avLst/>
            <a:gdLst/>
            <a:ahLst/>
            <a:cxnLst/>
            <a:rect l="l" t="t" r="r" b="b"/>
            <a:pathLst>
              <a:path w="7065281" h="6858001" extrusionOk="0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6" name="Google Shape;276;p3"/>
          <p:cNvSpPr txBox="1"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Trebuchet MS"/>
              <a:buNone/>
            </a:pPr>
            <a:r>
              <a:rPr lang="ko-KR" sz="4200"/>
              <a:t>환경 및 요구사항 분석 </a:t>
            </a:r>
            <a:endParaRPr/>
          </a:p>
        </p:txBody>
      </p:sp>
      <p:sp>
        <p:nvSpPr>
          <p:cNvPr id="277" name="Google Shape;277;p3"/>
          <p:cNvSpPr txBox="1">
            <a:spLocks noGrp="1"/>
          </p:cNvSpPr>
          <p:nvPr>
            <p:ph type="ftr" idx="11"/>
          </p:nvPr>
        </p:nvSpPr>
        <p:spPr>
          <a:xfrm>
            <a:off x="508001" y="6041362"/>
            <a:ext cx="36310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  <p:cxnSp>
        <p:nvCxnSpPr>
          <p:cNvPr id="278" name="Google Shape;278;p3"/>
          <p:cNvCxnSpPr/>
          <p:nvPr/>
        </p:nvCxnSpPr>
        <p:spPr>
          <a:xfrm>
            <a:off x="7028259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3"/>
          <p:cNvCxnSpPr/>
          <p:nvPr/>
        </p:nvCxnSpPr>
        <p:spPr>
          <a:xfrm flipH="1">
            <a:off x="5568950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0" name="Google Shape;280;p3"/>
          <p:cNvSpPr/>
          <p:nvPr/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p3"/>
          <p:cNvSpPr/>
          <p:nvPr/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3"/>
          <p:cNvSpPr/>
          <p:nvPr/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" name="Google Shape;283;p3"/>
          <p:cNvSpPr/>
          <p:nvPr/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4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4" name="Google Shape;284;p3"/>
          <p:cNvSpPr/>
          <p:nvPr/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5" name="Google Shape;285;p3"/>
          <p:cNvSpPr/>
          <p:nvPr/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6" name="Google Shape;286;p3"/>
          <p:cNvSpPr/>
          <p:nvPr/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92" name="Google Shape;292;p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" name="Google Shape;293;p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" name="Google Shape;294;p4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시장/기술 동향 분석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6" name="Google Shape;296;p4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"/>
          <p:cNvSpPr txBox="1"/>
          <p:nvPr/>
        </p:nvSpPr>
        <p:spPr>
          <a:xfrm>
            <a:off x="558800" y="15240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72A8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 범위 세분화</a:t>
            </a:r>
            <a:endParaRPr/>
          </a:p>
        </p:txBody>
      </p:sp>
      <p:sp>
        <p:nvSpPr>
          <p:cNvPr id="298" name="Google Shape;298;p4"/>
          <p:cNvSpPr txBox="1"/>
          <p:nvPr/>
        </p:nvSpPr>
        <p:spPr>
          <a:xfrm>
            <a:off x="558800" y="1917700"/>
            <a:ext cx="749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시장/기술 동향 분석은 “범위 정의 → 시장 Fact → 기술 Fact → 종합 판단” 순서로 작성</a:t>
            </a:r>
            <a:endParaRPr/>
          </a:p>
        </p:txBody>
      </p:sp>
      <p:sp>
        <p:nvSpPr>
          <p:cNvPr id="299" name="Google Shape;299;p4"/>
          <p:cNvSpPr txBox="1"/>
          <p:nvPr/>
        </p:nvSpPr>
        <p:spPr>
          <a:xfrm>
            <a:off x="584200" y="2603500"/>
            <a:ext cx="7239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각 슬라이드는 객관적 근거 제시, 정량·정성 병행, 마지막 사업화 시사점 도출이라는 동일한 작성 원칙을 따릅니다.</a:t>
            </a:r>
            <a:endParaRPr sz="100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635000" y="3403600"/>
            <a:ext cx="1828800" cy="18034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635000" y="3403600"/>
            <a:ext cx="1828800" cy="1016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4"/>
          <p:cNvSpPr txBox="1"/>
          <p:nvPr/>
        </p:nvSpPr>
        <p:spPr>
          <a:xfrm>
            <a:off x="762000" y="36322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rgbClr val="3E61A8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1500" b="1">
              <a:solidFill>
                <a:srgbClr val="3E61A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4"/>
          <p:cNvSpPr txBox="1"/>
          <p:nvPr/>
        </p:nvSpPr>
        <p:spPr>
          <a:xfrm>
            <a:off x="762000" y="40005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분석 목적·범위</a:t>
            </a:r>
            <a:endParaRPr/>
          </a:p>
        </p:txBody>
      </p:sp>
      <p:sp>
        <p:nvSpPr>
          <p:cNvPr id="304" name="Google Shape;304;p4"/>
          <p:cNvSpPr txBox="1"/>
          <p:nvPr/>
        </p:nvSpPr>
        <p:spPr>
          <a:xfrm>
            <a:off x="762000" y="4381500"/>
            <a:ext cx="1549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대상 시장, 고객군, 지역, 적용 제품/서비스를 먼저 고정</a:t>
            </a:r>
            <a:endParaRPr/>
          </a:p>
        </p:txBody>
      </p:sp>
      <p:sp>
        <p:nvSpPr>
          <p:cNvPr id="305" name="Google Shape;305;p4"/>
          <p:cNvSpPr/>
          <p:nvPr/>
        </p:nvSpPr>
        <p:spPr>
          <a:xfrm>
            <a:off x="1828800" y="4978400"/>
            <a:ext cx="482600" cy="2032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1866900" y="50038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5번</a:t>
            </a:r>
            <a:endParaRPr/>
          </a:p>
        </p:txBody>
      </p:sp>
      <p:sp>
        <p:nvSpPr>
          <p:cNvPr id="307" name="Google Shape;307;p4"/>
          <p:cNvSpPr txBox="1"/>
          <p:nvPr/>
        </p:nvSpPr>
        <p:spPr>
          <a:xfrm>
            <a:off x="2514600" y="4114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/>
          </a:p>
        </p:txBody>
      </p:sp>
      <p:sp>
        <p:nvSpPr>
          <p:cNvPr id="308" name="Google Shape;308;p4"/>
          <p:cNvSpPr/>
          <p:nvPr/>
        </p:nvSpPr>
        <p:spPr>
          <a:xfrm>
            <a:off x="2641600" y="3403600"/>
            <a:ext cx="1828800" cy="1803400"/>
          </a:xfrm>
          <a:prstGeom prst="rect">
            <a:avLst/>
          </a:prstGeom>
          <a:solidFill>
            <a:srgbClr val="F2F8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2641600" y="3403600"/>
            <a:ext cx="1828800" cy="1016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0" name="Google Shape;310;p4"/>
          <p:cNvSpPr txBox="1"/>
          <p:nvPr/>
        </p:nvSpPr>
        <p:spPr>
          <a:xfrm>
            <a:off x="2768600" y="36322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500" b="1">
              <a:solidFill>
                <a:srgbClr val="72A82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" name="Google Shape;311;p4"/>
          <p:cNvSpPr txBox="1"/>
          <p:nvPr/>
        </p:nvSpPr>
        <p:spPr>
          <a:xfrm>
            <a:off x="2768600" y="40005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시장 동향</a:t>
            </a:r>
            <a:endParaRPr/>
          </a:p>
        </p:txBody>
      </p:sp>
      <p:sp>
        <p:nvSpPr>
          <p:cNvPr id="312" name="Google Shape;312;p4"/>
          <p:cNvSpPr txBox="1"/>
          <p:nvPr/>
        </p:nvSpPr>
        <p:spPr>
          <a:xfrm>
            <a:off x="2768600" y="4381500"/>
            <a:ext cx="1549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시장 규모, 수요 변화, 경쟁 구도, 정책·규제를 정리</a:t>
            </a:r>
            <a:endParaRPr/>
          </a:p>
        </p:txBody>
      </p:sp>
      <p:sp>
        <p:nvSpPr>
          <p:cNvPr id="313" name="Google Shape;313;p4"/>
          <p:cNvSpPr/>
          <p:nvPr/>
        </p:nvSpPr>
        <p:spPr>
          <a:xfrm>
            <a:off x="3835400" y="4978400"/>
            <a:ext cx="482600" cy="2032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4"/>
          <p:cNvSpPr txBox="1"/>
          <p:nvPr/>
        </p:nvSpPr>
        <p:spPr>
          <a:xfrm>
            <a:off x="3873500" y="50038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6번</a:t>
            </a:r>
            <a:endParaRPr/>
          </a:p>
        </p:txBody>
      </p:sp>
      <p:sp>
        <p:nvSpPr>
          <p:cNvPr id="315" name="Google Shape;315;p4"/>
          <p:cNvSpPr txBox="1"/>
          <p:nvPr/>
        </p:nvSpPr>
        <p:spPr>
          <a:xfrm>
            <a:off x="4521200" y="4114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/>
          </a:p>
        </p:txBody>
      </p:sp>
      <p:sp>
        <p:nvSpPr>
          <p:cNvPr id="316" name="Google Shape;316;p4"/>
          <p:cNvSpPr/>
          <p:nvPr/>
        </p:nvSpPr>
        <p:spPr>
          <a:xfrm>
            <a:off x="4648200" y="3403600"/>
            <a:ext cx="1828800" cy="18034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4648200" y="3403600"/>
            <a:ext cx="1828800" cy="1016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8" name="Google Shape;318;p4"/>
          <p:cNvSpPr txBox="1"/>
          <p:nvPr/>
        </p:nvSpPr>
        <p:spPr>
          <a:xfrm>
            <a:off x="4775200" y="36322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rgbClr val="3E61A8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500" b="1">
              <a:solidFill>
                <a:srgbClr val="3E61A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9" name="Google Shape;319;p4"/>
          <p:cNvSpPr txBox="1"/>
          <p:nvPr/>
        </p:nvSpPr>
        <p:spPr>
          <a:xfrm>
            <a:off x="4775200" y="40005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기술 동향</a:t>
            </a:r>
            <a:endParaRPr/>
          </a:p>
        </p:txBody>
      </p:sp>
      <p:sp>
        <p:nvSpPr>
          <p:cNvPr id="320" name="Google Shape;320;p4"/>
          <p:cNvSpPr txBox="1"/>
          <p:nvPr/>
        </p:nvSpPr>
        <p:spPr>
          <a:xfrm>
            <a:off x="4775200" y="4381500"/>
            <a:ext cx="1549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핵심 기술, 성숙도, R&amp;D·특허·표준, 구현 이슈를 정리</a:t>
            </a:r>
            <a:endParaRPr/>
          </a:p>
        </p:txBody>
      </p:sp>
      <p:sp>
        <p:nvSpPr>
          <p:cNvPr id="321" name="Google Shape;321;p4"/>
          <p:cNvSpPr/>
          <p:nvPr/>
        </p:nvSpPr>
        <p:spPr>
          <a:xfrm>
            <a:off x="5842000" y="4978400"/>
            <a:ext cx="482600" cy="2032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4"/>
          <p:cNvSpPr txBox="1"/>
          <p:nvPr/>
        </p:nvSpPr>
        <p:spPr>
          <a:xfrm>
            <a:off x="5880100" y="50038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7번</a:t>
            </a:r>
            <a:endParaRPr/>
          </a:p>
        </p:txBody>
      </p:sp>
      <p:sp>
        <p:nvSpPr>
          <p:cNvPr id="323" name="Google Shape;323;p4"/>
          <p:cNvSpPr txBox="1"/>
          <p:nvPr/>
        </p:nvSpPr>
        <p:spPr>
          <a:xfrm>
            <a:off x="6527800" y="4114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/>
          </a:p>
        </p:txBody>
      </p:sp>
      <p:sp>
        <p:nvSpPr>
          <p:cNvPr id="324" name="Google Shape;324;p4"/>
          <p:cNvSpPr/>
          <p:nvPr/>
        </p:nvSpPr>
        <p:spPr>
          <a:xfrm>
            <a:off x="6654800" y="3403600"/>
            <a:ext cx="1828800" cy="1803400"/>
          </a:xfrm>
          <a:prstGeom prst="rect">
            <a:avLst/>
          </a:prstGeom>
          <a:solidFill>
            <a:srgbClr val="F2F8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4"/>
          <p:cNvSpPr/>
          <p:nvPr/>
        </p:nvSpPr>
        <p:spPr>
          <a:xfrm>
            <a:off x="6654800" y="3403600"/>
            <a:ext cx="1828800" cy="1016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6" name="Google Shape;326;p4"/>
          <p:cNvSpPr txBox="1"/>
          <p:nvPr/>
        </p:nvSpPr>
        <p:spPr>
          <a:xfrm>
            <a:off x="6781800" y="36322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1500" b="1">
              <a:solidFill>
                <a:srgbClr val="72A82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7" name="Google Shape;327;p4"/>
          <p:cNvSpPr txBox="1"/>
          <p:nvPr/>
        </p:nvSpPr>
        <p:spPr>
          <a:xfrm>
            <a:off x="6781800" y="40005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종합 판단</a:t>
            </a:r>
            <a:endParaRPr/>
          </a:p>
        </p:txBody>
      </p:sp>
      <p:sp>
        <p:nvSpPr>
          <p:cNvPr id="328" name="Google Shape;328;p4"/>
          <p:cNvSpPr txBox="1"/>
          <p:nvPr/>
        </p:nvSpPr>
        <p:spPr>
          <a:xfrm>
            <a:off x="6781800" y="4381500"/>
            <a:ext cx="1549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시장 매력도와 기술 실현 가능성을 교차 평가해 실행 제언 도출</a:t>
            </a:r>
            <a:endParaRPr/>
          </a:p>
        </p:txBody>
      </p:sp>
      <p:sp>
        <p:nvSpPr>
          <p:cNvPr id="329" name="Google Shape;329;p4"/>
          <p:cNvSpPr/>
          <p:nvPr/>
        </p:nvSpPr>
        <p:spPr>
          <a:xfrm>
            <a:off x="7848600" y="4978400"/>
            <a:ext cx="482600" cy="2032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0" name="Google Shape;330;p4"/>
          <p:cNvSpPr txBox="1"/>
          <p:nvPr/>
        </p:nvSpPr>
        <p:spPr>
          <a:xfrm>
            <a:off x="7886700" y="50038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후속</a:t>
            </a:r>
            <a:endParaRPr/>
          </a:p>
        </p:txBody>
      </p:sp>
      <p:sp>
        <p:nvSpPr>
          <p:cNvPr id="331" name="Google Shape;331;p4"/>
          <p:cNvSpPr/>
          <p:nvPr/>
        </p:nvSpPr>
        <p:spPr>
          <a:xfrm>
            <a:off x="635000" y="5664200"/>
            <a:ext cx="7493000" cy="482600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" name="Google Shape;332;p4"/>
          <p:cNvSpPr txBox="1"/>
          <p:nvPr/>
        </p:nvSpPr>
        <p:spPr>
          <a:xfrm>
            <a:off x="787400" y="58039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작성 체크포인트: 출처/기준연도 명시 · 비교 대상 통일 · Fact와 해석 분리 · 기회/위험을 실행 과제로 연결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8" name="Google Shape;338;p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0" name="Google Shape;340;p5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시장/기술 동향 분석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2" name="Google Shape;342;p5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"/>
          <p:cNvSpPr txBox="1"/>
          <p:nvPr/>
        </p:nvSpPr>
        <p:spPr>
          <a:xfrm>
            <a:off x="3275856" y="719991"/>
            <a:ext cx="3816424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단순 현황 나열보다 “왜 지금 진입해야 하는가 / 어디가 유망한가 </a:t>
            </a:r>
            <a:endParaRPr sz="95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/ 무엇이 리스크인가”가 드러나야 합니다.</a:t>
            </a:r>
            <a:endParaRPr sz="95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457200" y="1340768"/>
            <a:ext cx="3873500" cy="2540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5" name="Google Shape;345;p5"/>
          <p:cNvSpPr txBox="1"/>
          <p:nvPr/>
        </p:nvSpPr>
        <p:spPr>
          <a:xfrm>
            <a:off x="558800" y="1366168"/>
            <a:ext cx="36703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A. 시장 규모·성장성</a:t>
            </a:r>
            <a:endParaRPr/>
          </a:p>
        </p:txBody>
      </p:sp>
      <p:sp>
        <p:nvSpPr>
          <p:cNvPr id="346" name="Google Shape;346;p5"/>
          <p:cNvSpPr txBox="1"/>
          <p:nvPr/>
        </p:nvSpPr>
        <p:spPr>
          <a:xfrm>
            <a:off x="323528" y="4337968"/>
            <a:ext cx="3556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전체 시장 규모: 기준연도, 지역, 금액/수량 단위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성장성: CAGR, 3~5년 전망, 성장 요인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세그먼트: 고객군·용도·가격대별 비중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근거: 통계청, 산업보고서, 협회/공공 데이터</a:t>
            </a:r>
            <a:endParaRPr/>
          </a:p>
        </p:txBody>
      </p:sp>
      <p:sp>
        <p:nvSpPr>
          <p:cNvPr id="347" name="Google Shape;347;p5"/>
          <p:cNvSpPr txBox="1"/>
          <p:nvPr/>
        </p:nvSpPr>
        <p:spPr>
          <a:xfrm>
            <a:off x="4648200" y="3009900"/>
            <a:ext cx="36703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B. 고객 수요·구매 요인</a:t>
            </a:r>
            <a:endParaRPr/>
          </a:p>
        </p:txBody>
      </p:sp>
      <p:sp>
        <p:nvSpPr>
          <p:cNvPr id="348" name="Google Shape;348;p5"/>
          <p:cNvSpPr/>
          <p:nvPr/>
        </p:nvSpPr>
        <p:spPr>
          <a:xfrm>
            <a:off x="457200" y="6375400"/>
            <a:ext cx="7962900" cy="355600"/>
          </a:xfrm>
          <a:prstGeom prst="rect">
            <a:avLst/>
          </a:prstGeom>
          <a:solidFill>
            <a:srgbClr val="EDF5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9" name="Google Shape;349;p5"/>
          <p:cNvSpPr txBox="1"/>
          <p:nvPr/>
        </p:nvSpPr>
        <p:spPr>
          <a:xfrm>
            <a:off x="609600" y="64770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4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작성 문장 예시: “OO 시장은 △△ 수요 증가와 □□ 정책 지원으로 성장성이 높으나, 인증·유통 장벽이 초기 진입 리스크로 작용한다.”</a:t>
            </a:r>
            <a:endParaRPr sz="840" b="1">
              <a:solidFill>
                <a:srgbClr val="1F2A4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0" name="Google Shape;350;p5"/>
          <p:cNvPicPr preferRelativeResize="0"/>
          <p:nvPr/>
        </p:nvPicPr>
        <p:blipFill rotWithShape="1">
          <a:blip>
            <a:alphaModFix/>
          </a:blip>
          <a:srcRect l="5791" t="30436" r="27266" b="36331"/>
          <a:stretch/>
        </p:blipFill>
        <p:spPr>
          <a:xfrm>
            <a:off x="457200" y="1852070"/>
            <a:ext cx="6616067" cy="222500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"/>
          <p:cNvSpPr txBox="1"/>
          <p:nvPr/>
        </p:nvSpPr>
        <p:spPr>
          <a:xfrm>
            <a:off x="3637079" y="4323226"/>
            <a:ext cx="459166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향후 3~5년간 스마트팜 시장은 단순한 환경 모니터링(1세대)을 넘어, </a:t>
            </a: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'에지 AI + 로봇 제어 + 클라우드'가 결합된 지능형 자동화(2~3세대) 단계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로 진입하며 매년 두 자릿수(11%~15%)의 높은 CAGR을 기록할 것으로 강력히 전망됩니다.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8" name="Google Shape;428;p9"/>
          <p:cNvSpPr txBox="1"/>
          <p:nvPr/>
        </p:nvSpPr>
        <p:spPr>
          <a:xfrm>
            <a:off x="533400" y="3695700"/>
            <a:ext cx="358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근거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공신력 있는 통계/보고서/시장조사 자료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최근 3개년 </a:t>
            </a:r>
            <a:r>
              <a:rPr lang="ko-KR" sz="880" dirty="0" err="1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매출·투자·수출입·정책</a:t>
            </a: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변화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고객/경쟁사 사례 또는 실제 적용 레퍼런스</a:t>
            </a:r>
            <a:endParaRPr dirty="0"/>
          </a:p>
        </p:txBody>
      </p:sp>
      <p:sp>
        <p:nvSpPr>
          <p:cNvPr id="429" name="Google Shape;429;p9"/>
          <p:cNvSpPr txBox="1"/>
          <p:nvPr/>
        </p:nvSpPr>
        <p:spPr>
          <a:xfrm>
            <a:off x="508000" y="45339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예시</a:t>
            </a:r>
            <a:b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매력도 평가표  |  경쟁사 포지셔닝 맵  |  진입 우선순위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7" name="Google Shape;357;p6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8" name="Google Shape;358;p6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6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시장/기술 동향 분석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0" name="Google Shape;360;p6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1" name="Google Shape;361;p6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6"/>
          <p:cNvSpPr txBox="1"/>
          <p:nvPr/>
        </p:nvSpPr>
        <p:spPr>
          <a:xfrm>
            <a:off x="558800" y="16256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세부 양식 ①</a:t>
            </a:r>
            <a:endParaRPr/>
          </a:p>
        </p:txBody>
      </p:sp>
      <p:sp>
        <p:nvSpPr>
          <p:cNvPr id="363" name="Google Shape;363;p6"/>
          <p:cNvSpPr txBox="1"/>
          <p:nvPr/>
        </p:nvSpPr>
        <p:spPr>
          <a:xfrm>
            <a:off x="558800" y="1868666"/>
            <a:ext cx="71120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단순 현황 나열보다 “왜 지금 진입해야 하는가 / 어디가 유망한가 / 무엇이 리스크인가”가 드러나야 합니다.</a:t>
            </a:r>
            <a:endParaRPr sz="95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565150" y="2198866"/>
            <a:ext cx="3873500" cy="2540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5" name="Google Shape;365;p6"/>
          <p:cNvSpPr txBox="1"/>
          <p:nvPr/>
        </p:nvSpPr>
        <p:spPr>
          <a:xfrm>
            <a:off x="568690" y="2205148"/>
            <a:ext cx="36703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B. 고객 수요·구매 요인</a:t>
            </a:r>
            <a:endParaRPr/>
          </a:p>
        </p:txBody>
      </p:sp>
      <p:sp>
        <p:nvSpPr>
          <p:cNvPr id="366" name="Google Shape;366;p6"/>
          <p:cNvSpPr txBox="1"/>
          <p:nvPr/>
        </p:nvSpPr>
        <p:spPr>
          <a:xfrm>
            <a:off x="533400" y="4247588"/>
            <a:ext cx="3556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핵심 고객: B2B/B2C, 의사결정자, 사용 부서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Pain Point: 비용, 품질, 납기, 안전, 편의성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구매 요인: 가격 민감도, 인증, 브랜드, 사후관리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변화 신호: 검색량, 입찰/수주, VOC, 레퍼런스</a:t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457200" y="5003800"/>
            <a:ext cx="3873500" cy="109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457200" y="6375400"/>
            <a:ext cx="7962900" cy="355600"/>
          </a:xfrm>
          <a:prstGeom prst="rect">
            <a:avLst/>
          </a:prstGeom>
          <a:solidFill>
            <a:srgbClr val="EDF5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9" name="Google Shape;369;p6"/>
          <p:cNvSpPr txBox="1"/>
          <p:nvPr/>
        </p:nvSpPr>
        <p:spPr>
          <a:xfrm>
            <a:off x="609600" y="64770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4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작성 문장 예시: “OO 시장은 △△ 수요 증가와 □□ 정책 지원으로 성장성이 높으나, 인증·유통 장벽이 초기 진입 리스크로 작용한다.”</a:t>
            </a:r>
            <a:endParaRPr sz="840" b="1">
              <a:solidFill>
                <a:srgbClr val="1F2A4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Google Shape;428;p9">
            <a:extLst>
              <a:ext uri="{FF2B5EF4-FFF2-40B4-BE49-F238E27FC236}">
                <a16:creationId xmlns:a16="http://schemas.microsoft.com/office/drawing/2014/main" id="{7386A93D-BC8C-06E7-2B9D-59C6C4B93C9C}"/>
              </a:ext>
            </a:extLst>
          </p:cNvPr>
          <p:cNvSpPr txBox="1"/>
          <p:nvPr/>
        </p:nvSpPr>
        <p:spPr>
          <a:xfrm>
            <a:off x="533400" y="3695700"/>
            <a:ext cx="358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근거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공신력 있는 통계/보고서/시장조사 자료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최근 3개년 </a:t>
            </a:r>
            <a:r>
              <a:rPr lang="ko-KR" sz="880" dirty="0" err="1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매출·투자·수출입·정책</a:t>
            </a: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변화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고객/경쟁사 사례 또는 실제 적용 레퍼런스</a:t>
            </a:r>
            <a:endParaRPr dirty="0"/>
          </a:p>
        </p:txBody>
      </p:sp>
      <p:sp>
        <p:nvSpPr>
          <p:cNvPr id="3" name="Google Shape;429;p9">
            <a:extLst>
              <a:ext uri="{FF2B5EF4-FFF2-40B4-BE49-F238E27FC236}">
                <a16:creationId xmlns:a16="http://schemas.microsoft.com/office/drawing/2014/main" id="{DD5B7957-4477-7E17-3582-1E0EE6D04F35}"/>
              </a:ext>
            </a:extLst>
          </p:cNvPr>
          <p:cNvSpPr txBox="1"/>
          <p:nvPr/>
        </p:nvSpPr>
        <p:spPr>
          <a:xfrm>
            <a:off x="508000" y="45339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예시</a:t>
            </a:r>
            <a:b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매력도 평가표  |  경쟁사 포지셔닝 맵  |  진입 우선순위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75" name="Google Shape;375;p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" name="Google Shape;376;p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" name="Google Shape;377;p7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시장/기술 동향 분석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8" name="Google Shape;378;p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9" name="Google Shape;379;p7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"/>
          <p:cNvSpPr/>
          <p:nvPr/>
        </p:nvSpPr>
        <p:spPr>
          <a:xfrm>
            <a:off x="533400" y="1473200"/>
            <a:ext cx="7747000" cy="127000"/>
          </a:xfrm>
          <a:prstGeom prst="rect">
            <a:avLst/>
          </a:prstGeom>
          <a:solidFill>
            <a:srgbClr val="F2F8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1" name="Google Shape;381;p7"/>
          <p:cNvSpPr txBox="1"/>
          <p:nvPr/>
        </p:nvSpPr>
        <p:spPr>
          <a:xfrm>
            <a:off x="558800" y="16256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세부 양식 ①</a:t>
            </a:r>
            <a:endParaRPr/>
          </a:p>
        </p:txBody>
      </p:sp>
      <p:sp>
        <p:nvSpPr>
          <p:cNvPr id="382" name="Google Shape;382;p7"/>
          <p:cNvSpPr txBox="1"/>
          <p:nvPr/>
        </p:nvSpPr>
        <p:spPr>
          <a:xfrm>
            <a:off x="558800" y="1868666"/>
            <a:ext cx="71120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단순 현황 나열보다 “왜 지금 진입해야 하는가 / 어디가 유망한가 / 무엇이 리스크인가”가 드러나야 합니다.</a:t>
            </a:r>
            <a:endParaRPr sz="95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457200" y="2228351"/>
            <a:ext cx="3873500" cy="2540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4" name="Google Shape;384;p7"/>
          <p:cNvSpPr txBox="1"/>
          <p:nvPr/>
        </p:nvSpPr>
        <p:spPr>
          <a:xfrm>
            <a:off x="444500" y="2231268"/>
            <a:ext cx="36703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C. 경쟁 구도·대체재</a:t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457200" y="5003800"/>
            <a:ext cx="3873500" cy="109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6" name="Google Shape;386;p7"/>
          <p:cNvSpPr txBox="1"/>
          <p:nvPr/>
        </p:nvSpPr>
        <p:spPr>
          <a:xfrm>
            <a:off x="609600" y="51689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주요 기업: 점유율, 제품군, 가격, 채널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경쟁 우위: 기술, 원가, 브랜드, 파트너십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대체재/보완재: 기존 방식 대비 강·약점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비교 산출물: 경쟁사 포지셔닝 맵</a:t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457200" y="6375400"/>
            <a:ext cx="7962900" cy="355600"/>
          </a:xfrm>
          <a:prstGeom prst="rect">
            <a:avLst/>
          </a:prstGeom>
          <a:solidFill>
            <a:srgbClr val="EDF5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7"/>
          <p:cNvSpPr txBox="1"/>
          <p:nvPr/>
        </p:nvSpPr>
        <p:spPr>
          <a:xfrm>
            <a:off x="609600" y="64770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4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작성 문장 예시: “OO 시장은 △△ 수요 증가와 □□ 정책 지원으로 성장성이 높으나, 인증·유통 장벽이 초기 진입 리스크로 작용한다.”</a:t>
            </a:r>
            <a:endParaRPr sz="840" b="1">
              <a:solidFill>
                <a:srgbClr val="1F2A4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Google Shape;428;p9">
            <a:extLst>
              <a:ext uri="{FF2B5EF4-FFF2-40B4-BE49-F238E27FC236}">
                <a16:creationId xmlns:a16="http://schemas.microsoft.com/office/drawing/2014/main" id="{37677940-AFB0-42A5-5D2B-638E9261841D}"/>
              </a:ext>
            </a:extLst>
          </p:cNvPr>
          <p:cNvSpPr txBox="1"/>
          <p:nvPr/>
        </p:nvSpPr>
        <p:spPr>
          <a:xfrm>
            <a:off x="533400" y="3695700"/>
            <a:ext cx="358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근거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공신력 있는 통계/보고서/시장조사 자료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최근 3개년 </a:t>
            </a:r>
            <a:r>
              <a:rPr lang="ko-KR" sz="880" dirty="0" err="1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매출·투자·수출입·정책</a:t>
            </a: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변화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고객/경쟁사 사례 또는 실제 적용 레퍼런스</a:t>
            </a:r>
            <a:endParaRPr dirty="0"/>
          </a:p>
        </p:txBody>
      </p:sp>
      <p:sp>
        <p:nvSpPr>
          <p:cNvPr id="5" name="Google Shape;429;p9">
            <a:extLst>
              <a:ext uri="{FF2B5EF4-FFF2-40B4-BE49-F238E27FC236}">
                <a16:creationId xmlns:a16="http://schemas.microsoft.com/office/drawing/2014/main" id="{EE40166E-AC46-54A7-0A57-0F94061F4370}"/>
              </a:ext>
            </a:extLst>
          </p:cNvPr>
          <p:cNvSpPr txBox="1"/>
          <p:nvPr/>
        </p:nvSpPr>
        <p:spPr>
          <a:xfrm>
            <a:off x="508000" y="45339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예시</a:t>
            </a:r>
            <a:b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70" b="1" dirty="0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매력도 평가표  |  경쟁사 포지셔닝 맵  |  진입 우선순위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4" name="Google Shape;394;p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5" name="Google Shape;395;p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6" name="Google Shape;396;p8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시장/기술 동향 분석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7" name="Google Shape;397;p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8" name="Google Shape;398;p8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8"/>
          <p:cNvSpPr/>
          <p:nvPr/>
        </p:nvSpPr>
        <p:spPr>
          <a:xfrm>
            <a:off x="533400" y="1473200"/>
            <a:ext cx="7747000" cy="127000"/>
          </a:xfrm>
          <a:prstGeom prst="rect">
            <a:avLst/>
          </a:prstGeom>
          <a:solidFill>
            <a:srgbClr val="F2F8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558800" y="16256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72A820"/>
                </a:solidFill>
                <a:latin typeface="Trebuchet MS"/>
                <a:ea typeface="Trebuchet MS"/>
                <a:cs typeface="Trebuchet MS"/>
                <a:sym typeface="Trebuchet MS"/>
              </a:rPr>
              <a:t>세부 양식 ①</a:t>
            </a:r>
            <a:endParaRPr/>
          </a:p>
        </p:txBody>
      </p:sp>
      <p:sp>
        <p:nvSpPr>
          <p:cNvPr id="401" name="Google Shape;401;p8"/>
          <p:cNvSpPr txBox="1"/>
          <p:nvPr/>
        </p:nvSpPr>
        <p:spPr>
          <a:xfrm>
            <a:off x="558800" y="1868666"/>
            <a:ext cx="71120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단순 현황 나열보다 “왜 지금 진입해야 하는가 / 어디가 유망한가 / 무엇이 리스크인가”가 드러나야 합니다.</a:t>
            </a:r>
            <a:endParaRPr sz="95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558800" y="4749800"/>
            <a:ext cx="36703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C. 경쟁 구도·대체재</a:t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457200" y="5003800"/>
            <a:ext cx="3873500" cy="109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533400" y="2287766"/>
            <a:ext cx="3873500" cy="2540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558800" y="2302674"/>
            <a:ext cx="36703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D. 정책·규제·진입장벽</a:t>
            </a:r>
            <a:endParaRPr/>
          </a:p>
        </p:txBody>
      </p:sp>
      <p:sp>
        <p:nvSpPr>
          <p:cNvPr id="406" name="Google Shape;406;p8"/>
          <p:cNvSpPr txBox="1"/>
          <p:nvPr/>
        </p:nvSpPr>
        <p:spPr>
          <a:xfrm>
            <a:off x="615950" y="5313978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정책/지원사업: 정부 과제, 보조금, 공공조달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규제/인증: 표준, 안전, 환경, 개인정보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진입장벽: 설비투자, 유통망, 전환비용</a:t>
            </a:r>
            <a:b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8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• 최종 판단: 기회·위험·대응 전략</a:t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457200" y="6375400"/>
            <a:ext cx="7962900" cy="355600"/>
          </a:xfrm>
          <a:prstGeom prst="rect">
            <a:avLst/>
          </a:prstGeom>
          <a:solidFill>
            <a:srgbClr val="EDF5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609600" y="64770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4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작성 문장 예시: “OO 시장은 △△ 수요 증가와 □□ 정책 지원으로 성장성이 높으나, 인증·유통 장벽이 초기 진입 리스크로 작용한다.”</a:t>
            </a:r>
            <a:endParaRPr sz="840" b="1">
              <a:solidFill>
                <a:srgbClr val="1F2A4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Google Shape;428;p9">
            <a:extLst>
              <a:ext uri="{FF2B5EF4-FFF2-40B4-BE49-F238E27FC236}">
                <a16:creationId xmlns:a16="http://schemas.microsoft.com/office/drawing/2014/main" id="{8B90E5C5-2B38-B959-6D6C-0A72C5F121BB}"/>
              </a:ext>
            </a:extLst>
          </p:cNvPr>
          <p:cNvSpPr txBox="1"/>
          <p:nvPr/>
        </p:nvSpPr>
        <p:spPr>
          <a:xfrm>
            <a:off x="749300" y="3586778"/>
            <a:ext cx="358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근거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공신력 있는 통계/보고서/시장조사 자료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최근 3개년 </a:t>
            </a:r>
            <a:r>
              <a:rPr lang="ko-KR" sz="880" dirty="0" err="1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매출·투자·수출입·정책</a:t>
            </a: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변화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고객/경쟁사 사례 또는 실제 적용 레퍼런스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4" name="Google Shape;414;p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415;p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" name="Google Shape;416;p9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시장/기술 동향 분석</a:t>
            </a:r>
            <a:endParaRPr sz="1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7" name="Google Shape;417;p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0" name="Google Shape;420;p9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9"/>
          <p:cNvSpPr txBox="1"/>
          <p:nvPr/>
        </p:nvSpPr>
        <p:spPr>
          <a:xfrm>
            <a:off x="393700" y="11938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rgbClr val="2E5E1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 목적: 시장 매력도와 기술 실현 가능성을 동시에 검토하여 사업화 우선순위를 판단</a:t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4749800" y="1562100"/>
            <a:ext cx="3937000" cy="317500"/>
          </a:xfrm>
          <a:prstGeom prst="rect">
            <a:avLst/>
          </a:prstGeom>
          <a:solidFill>
            <a:srgbClr val="78A921"/>
          </a:solidFill>
          <a:ln w="9525" cap="rnd" cmpd="sng">
            <a:solidFill>
              <a:srgbClr val="78A9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4851400" y="1625600"/>
            <a:ext cx="37084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기술 동향 작성 항목</a:t>
            </a:r>
            <a:endParaRPr/>
          </a:p>
        </p:txBody>
      </p:sp>
      <p:sp>
        <p:nvSpPr>
          <p:cNvPr id="430" name="Google Shape;430;p9"/>
          <p:cNvSpPr txBox="1"/>
          <p:nvPr/>
        </p:nvSpPr>
        <p:spPr>
          <a:xfrm>
            <a:off x="4787900" y="2006600"/>
            <a:ext cx="3835400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핵심 기술 정의: 기술 원리, 구성요소, 적용 범위</a:t>
            </a:r>
            <a:b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성숙도: TRL, 상용화 수준, 성능/원가/품질 지표</a:t>
            </a:r>
            <a:b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R&amp;D 흐름: 논문·특허·표준화·정부 과제 동향</a:t>
            </a:r>
            <a:b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주요 플레이어: 선도 기업/기관, 보유 기술, 협업 구조</a:t>
            </a:r>
            <a:b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  <a:t>5) 구현 이슈: 개발 난이도, 공급망, 보안·안전·인증 이슈</a:t>
            </a:r>
            <a:b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920">
                <a:solidFill>
                  <a:srgbClr val="24364B"/>
                </a:solidFill>
                <a:latin typeface="Malgun Gothic"/>
                <a:ea typeface="Malgun Gothic"/>
                <a:cs typeface="Malgun Gothic"/>
                <a:sym typeface="Malgun Gothic"/>
              </a:rPr>
              <a:t>6) 시사점: 확보 전략, 내재화/제휴/도입 판단 기준</a:t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800600" y="3632200"/>
            <a:ext cx="3759200" cy="736600"/>
          </a:xfrm>
          <a:prstGeom prst="rect">
            <a:avLst/>
          </a:prstGeom>
          <a:solidFill>
            <a:srgbClr val="F4F8EC"/>
          </a:solidFill>
          <a:ln w="9525" cap="rnd" cmpd="sng">
            <a:solidFill>
              <a:srgbClr val="B7D6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2" name="Google Shape;432;p9"/>
          <p:cNvSpPr txBox="1"/>
          <p:nvPr/>
        </p:nvSpPr>
        <p:spPr>
          <a:xfrm>
            <a:off x="4889500" y="3695700"/>
            <a:ext cx="358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근거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sz="880" dirty="0" err="1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특허·논문</a:t>
            </a: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증가율, 표준/인증 변화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벤치마크 성능, 원가 구조, 양산 가능성</a:t>
            </a:r>
            <a:b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경쟁 기술 대비 </a:t>
            </a:r>
            <a:r>
              <a:rPr lang="ko-KR" sz="880" dirty="0" err="1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우위·한계</a:t>
            </a:r>
            <a:r>
              <a:rPr lang="ko-KR" sz="880" dirty="0">
                <a:solidFill>
                  <a:srgbClr val="3D4A2C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및 대체 가능성</a:t>
            </a:r>
            <a:endParaRPr dirty="0"/>
          </a:p>
        </p:txBody>
      </p:sp>
      <p:sp>
        <p:nvSpPr>
          <p:cNvPr id="433" name="Google Shape;433;p9"/>
          <p:cNvSpPr txBox="1"/>
          <p:nvPr/>
        </p:nvSpPr>
        <p:spPr>
          <a:xfrm>
            <a:off x="4864100" y="45339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70" b="1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예시</a:t>
            </a:r>
            <a:br>
              <a:rPr lang="ko-KR" sz="870" b="1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70" b="1">
                <a:solidFill>
                  <a:srgbClr val="2C4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성숙도 매트릭스  |  특허/논문 트렌드  |  확보 로드맵</a:t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393700" y="5232400"/>
            <a:ext cx="8293100" cy="431800"/>
          </a:xfrm>
          <a:prstGeom prst="rect">
            <a:avLst/>
          </a:prstGeom>
          <a:solidFill>
            <a:srgbClr val="EEF5FF"/>
          </a:solidFill>
          <a:ln w="9525" cap="rnd" cmpd="sng">
            <a:solidFill>
              <a:srgbClr val="93A9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p9"/>
          <p:cNvSpPr txBox="1"/>
          <p:nvPr/>
        </p:nvSpPr>
        <p:spPr>
          <a:xfrm>
            <a:off x="533400" y="5334000"/>
            <a:ext cx="8026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1F3A7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작성 구조: ① 분석 배경 → ② 시장/기술 </a:t>
            </a:r>
            <a:r>
              <a:rPr lang="ko-KR" sz="950" b="1" dirty="0" err="1">
                <a:solidFill>
                  <a:srgbClr val="1F3A7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Fact</a:t>
            </a:r>
            <a:r>
              <a:rPr lang="ko-KR" sz="950" b="1" dirty="0">
                <a:solidFill>
                  <a:srgbClr val="1F3A7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③ </a:t>
            </a:r>
            <a:r>
              <a:rPr lang="ko-KR" sz="950" b="1" dirty="0" err="1">
                <a:solidFill>
                  <a:srgbClr val="1F3A7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경쟁·규제</a:t>
            </a:r>
            <a:r>
              <a:rPr lang="ko-KR" sz="950" b="1" dirty="0">
                <a:solidFill>
                  <a:srgbClr val="1F3A7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비교 → ④ 기회/위험 → ⑤ 실행 제언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98352-2984-F244-E828-1B2286D830D1}"/>
              </a:ext>
            </a:extLst>
          </p:cNvPr>
          <p:cNvSpPr txBox="1"/>
          <p:nvPr/>
        </p:nvSpPr>
        <p:spPr>
          <a:xfrm>
            <a:off x="3275856" y="296461"/>
            <a:ext cx="53843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딸기 </a:t>
            </a:r>
            <a:r>
              <a:rPr lang="ko-KR" altLang="ko-KR" dirty="0" err="1"/>
              <a:t>스마트팜</a:t>
            </a:r>
            <a:r>
              <a:rPr lang="ko-KR" altLang="ko-KR" dirty="0"/>
              <a:t> 시장은 겨울철 고품질 딸기 수요 증가와 정부의 </a:t>
            </a:r>
            <a:r>
              <a:rPr lang="ko-KR" altLang="ko-KR" dirty="0" err="1"/>
              <a:t>청년·창업농</a:t>
            </a:r>
            <a:r>
              <a:rPr lang="ko-KR" altLang="ko-KR" dirty="0"/>
              <a:t> 정책 지원으로 성장성이 높으나, 초기 고액의 시설 구축 비용과 ICT 인증 기자재 수급 장벽이 초기 진입 리스크로 작용한다.”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3" name="Google Shape;443;p1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" name="Google Shape;444;p1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5" name="Google Shape;445;p10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시장/기술 동향 분석</a:t>
            </a:r>
            <a:endParaRPr sz="1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6" name="Google Shape;446;p1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9" name="Google Shape;449;p10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0"/>
          <p:cNvSpPr txBox="1"/>
          <p:nvPr/>
        </p:nvSpPr>
        <p:spPr>
          <a:xfrm>
            <a:off x="558800" y="1917700"/>
            <a:ext cx="749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기술 동향은 성숙도와 확보 가능성을 분리해 “내재화·제휴·도입” 판단으로 연결합니다</a:t>
            </a:r>
            <a:endParaRPr/>
          </a:p>
        </p:txBody>
      </p:sp>
      <p:sp>
        <p:nvSpPr>
          <p:cNvPr id="451" name="Google Shape;451;p10"/>
          <p:cNvSpPr txBox="1"/>
          <p:nvPr/>
        </p:nvSpPr>
        <p:spPr>
          <a:xfrm>
            <a:off x="424350" y="1294763"/>
            <a:ext cx="7112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5A6475"/>
                </a:solidFill>
                <a:latin typeface="Trebuchet MS"/>
                <a:ea typeface="Trebuchet MS"/>
                <a:cs typeface="Trebuchet MS"/>
                <a:sym typeface="Trebuchet MS"/>
              </a:rPr>
              <a:t>기술 설명은 원리보다 사업화 판단에 필요한 성능, 원가, 특허/표준, 구현 리스크 중심으로 정리합니다.</a:t>
            </a:r>
            <a:endParaRPr sz="950">
              <a:solidFill>
                <a:srgbClr val="5A647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558800" y="2984500"/>
            <a:ext cx="3632200" cy="254000"/>
          </a:xfrm>
          <a:prstGeom prst="rect">
            <a:avLst/>
          </a:prstGeom>
          <a:solidFill>
            <a:srgbClr val="3E61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660400" y="30099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A. 기술 정의·성숙도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736600" y="3454400"/>
            <a:ext cx="2539200" cy="15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1) 핵심 기술 정의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기술 원리, 구성요소, 적용 제품/서비스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기존 기술 대비 차별점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2) 성숙도·상용화 수준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TRL, 양산/실증 여부, 레퍼런스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성능·원가·품질 기준 및 벤치마크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3) 구현 이슈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공급망, 장비/소재, 보안·안전·인증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개발 난이도와 예상 소요 기간</a:t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736600" y="6223000"/>
            <a:ext cx="3175000" cy="4318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863600" y="63373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2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산출물: 기술 성숙도 매트릭스 / 성능 비교표 / 구현 리스크 목록</a:t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4699000" y="2984500"/>
            <a:ext cx="3632200" cy="254000"/>
          </a:xfrm>
          <a:prstGeom prst="rect">
            <a:avLst/>
          </a:prstGeom>
          <a:solidFill>
            <a:srgbClr val="72A8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8" name="Google Shape;458;p10"/>
          <p:cNvSpPr txBox="1"/>
          <p:nvPr/>
        </p:nvSpPr>
        <p:spPr>
          <a:xfrm>
            <a:off x="4800600" y="30099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B. R&amp;D 흐름·확보 전략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4876800" y="3454400"/>
            <a:ext cx="2539200" cy="15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1) R&amp;D·특허·논문 동향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최근 3~5년 출원/발표 증가율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주요 출원인, 기술 분류, 표준화 움직임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2) 주요 플레이어·협업 구조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선도 기업/기관, 파트너십, 공급망 위치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보유 기술과 약점 비교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3) 확보 전략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자체 개발, 공동개발, 라이선스, M&amp;A</a:t>
            </a:r>
            <a:b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890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   - 비용·기간·리스크 기준 우선순위</a:t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4876800" y="6223000"/>
            <a:ext cx="3175000" cy="431800"/>
          </a:xfrm>
          <a:prstGeom prst="rect">
            <a:avLst/>
          </a:prstGeom>
          <a:solidFill>
            <a:srgbClr val="F2F8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5003800" y="63373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20" b="1">
                <a:solidFill>
                  <a:srgbClr val="1F2A44"/>
                </a:solidFill>
                <a:latin typeface="Trebuchet MS"/>
                <a:ea typeface="Trebuchet MS"/>
                <a:cs typeface="Trebuchet MS"/>
                <a:sym typeface="Trebuchet MS"/>
              </a:rPr>
              <a:t>산출물: 특허/논문 트렌드 / 기술 확보 로드맵 / Make-Buy-Partner 판단표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10" name="Google Shape;610;p1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13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요구사항 정의서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6" name="Google Shape;616;p13"/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F7A566-1FA0-9377-D84C-E1D233E9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749500"/>
              </p:ext>
            </p:extLst>
          </p:nvPr>
        </p:nvGraphicFramePr>
        <p:xfrm>
          <a:off x="323527" y="1283909"/>
          <a:ext cx="8496384" cy="5324928"/>
        </p:xfrm>
        <a:graphic>
          <a:graphicData uri="http://schemas.openxmlformats.org/drawingml/2006/table">
            <a:tbl>
              <a:tblPr/>
              <a:tblGrid>
                <a:gridCol w="1416064">
                  <a:extLst>
                    <a:ext uri="{9D8B030D-6E8A-4147-A177-3AD203B41FA5}">
                      <a16:colId xmlns:a16="http://schemas.microsoft.com/office/drawing/2014/main" val="2992551098"/>
                    </a:ext>
                  </a:extLst>
                </a:gridCol>
                <a:gridCol w="1416064">
                  <a:extLst>
                    <a:ext uri="{9D8B030D-6E8A-4147-A177-3AD203B41FA5}">
                      <a16:colId xmlns:a16="http://schemas.microsoft.com/office/drawing/2014/main" val="3333704204"/>
                    </a:ext>
                  </a:extLst>
                </a:gridCol>
                <a:gridCol w="1416064">
                  <a:extLst>
                    <a:ext uri="{9D8B030D-6E8A-4147-A177-3AD203B41FA5}">
                      <a16:colId xmlns:a16="http://schemas.microsoft.com/office/drawing/2014/main" val="1959398840"/>
                    </a:ext>
                  </a:extLst>
                </a:gridCol>
                <a:gridCol w="1416064">
                  <a:extLst>
                    <a:ext uri="{9D8B030D-6E8A-4147-A177-3AD203B41FA5}">
                      <a16:colId xmlns:a16="http://schemas.microsoft.com/office/drawing/2014/main" val="684324446"/>
                    </a:ext>
                  </a:extLst>
                </a:gridCol>
                <a:gridCol w="1416064">
                  <a:extLst>
                    <a:ext uri="{9D8B030D-6E8A-4147-A177-3AD203B41FA5}">
                      <a16:colId xmlns:a16="http://schemas.microsoft.com/office/drawing/2014/main" val="3776268274"/>
                    </a:ext>
                  </a:extLst>
                </a:gridCol>
                <a:gridCol w="1416064">
                  <a:extLst>
                    <a:ext uri="{9D8B030D-6E8A-4147-A177-3AD203B41FA5}">
                      <a16:colId xmlns:a16="http://schemas.microsoft.com/office/drawing/2014/main" val="799377762"/>
                    </a:ext>
                  </a:extLst>
                </a:gridCol>
              </a:tblGrid>
              <a:tr h="166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요구사항 ID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요구사항명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상세 내용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입력 데이터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처리 내용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출력 결과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38157"/>
                  </a:ext>
                </a:extLst>
              </a:tr>
              <a:tr h="509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FR-01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하우스 </a:t>
                      </a:r>
                      <a:r>
                        <a:rPr lang="ko-KR" sz="1200" dirty="0" err="1"/>
                        <a:t>온·습도</a:t>
                      </a:r>
                      <a:r>
                        <a:rPr lang="ko-KR" sz="1200" dirty="0"/>
                        <a:t> 측정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 err="1"/>
                        <a:t>온·습도</a:t>
                      </a:r>
                      <a:r>
                        <a:rPr lang="ko-KR" sz="1200" dirty="0"/>
                        <a:t> 센서를 통해 하우스 내부 환경 데이터를 측정한다.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온도 센서값, 습도 센서값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센서 데이터 수집 및 변환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온도·습도 측정값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160116"/>
                  </a:ext>
                </a:extLst>
              </a:tr>
              <a:tr h="647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FR-02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상위 제어 명령 수행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상위 제어기에서 전달된 작업 명령을 수신하고 로봇 동작 명령으로 변환한다.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상위 제어 명령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명령 해석 및 동작 변환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로봇 제어 명령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081647"/>
                  </a:ext>
                </a:extLst>
              </a:tr>
              <a:tr h="647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FR-03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6축 로봇 제어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6축 로봇을 지정 위치로 이동시켜 보식 작업을 수행하도록 제어한다.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 err="1"/>
                        <a:t>좌표값</a:t>
                      </a:r>
                      <a:r>
                        <a:rPr lang="ko-KR" sz="1200" dirty="0"/>
                        <a:t>, 작업 명령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로봇 경로 생성 및 위치 제어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로봇 이동 및 작업 수행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921393"/>
                  </a:ext>
                </a:extLst>
              </a:tr>
              <a:tr h="578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FR-04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식물 보식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여부 판단</a:t>
                      </a:r>
                      <a:endParaRPr lang="ko-KR" sz="1200" dirty="0"/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식물 삽입, 위치 정렬, 작업 완료 여부 확인 등 실제 보식 동작을 처리한다.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보식 대상 위치, 식물 정보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식물 삽입 및 정렬 작업 수행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보식 완료 결과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982096"/>
                  </a:ext>
                </a:extLst>
              </a:tr>
              <a:tr h="7157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FR-05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비전 인식 촬영 제어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비전 센서가 바코드와 식물을 인식할 수 있도록 촬영 위치와 모션을 제어한다.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촬영 위치, 모션 명령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카메라 위치 제어 및 촬영 수행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바코드·식물 이미지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13697"/>
                  </a:ext>
                </a:extLst>
              </a:tr>
              <a:tr h="647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FR-06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인식 데이터 연동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바코드 및 식물 인식 결과를 상위 시스템에 전달하고 작업 이력으로 저장한다.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바코드 인식값, 식물 인식 결과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데이터 전송 및 이력 저장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인식 결과, 작업 이력 데이터</a:t>
                      </a:r>
                    </a:p>
                  </a:txBody>
                  <a:tcPr marL="29184" marR="29184" marT="14592" marB="145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3991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785E125C-ACBF-FE6B-EE78-951B776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">
            <a:extLst>
              <a:ext uri="{FF2B5EF4-FFF2-40B4-BE49-F238E27FC236}">
                <a16:creationId xmlns:a16="http://schemas.microsoft.com/office/drawing/2014/main" id="{887993F8-9B64-5660-C0DA-EE959098B007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10" name="Google Shape;610;p13">
            <a:extLst>
              <a:ext uri="{FF2B5EF4-FFF2-40B4-BE49-F238E27FC236}">
                <a16:creationId xmlns:a16="http://schemas.microsoft.com/office/drawing/2014/main" id="{1060D561-985D-0344-D0D9-4051C4B41D48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3">
            <a:extLst>
              <a:ext uri="{FF2B5EF4-FFF2-40B4-BE49-F238E27FC236}">
                <a16:creationId xmlns:a16="http://schemas.microsoft.com/office/drawing/2014/main" id="{CE72C99D-2987-881D-3C79-7C94C1F1D6B6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13">
            <a:extLst>
              <a:ext uri="{FF2B5EF4-FFF2-40B4-BE49-F238E27FC236}">
                <a16:creationId xmlns:a16="http://schemas.microsoft.com/office/drawing/2014/main" id="{461029F0-8545-0A47-9D95-E265D5070D8B}"/>
              </a:ext>
            </a:extLst>
          </p:cNvPr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요구사항 정의서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3">
            <a:extLst>
              <a:ext uri="{FF2B5EF4-FFF2-40B4-BE49-F238E27FC236}">
                <a16:creationId xmlns:a16="http://schemas.microsoft.com/office/drawing/2014/main" id="{CB5D6A40-F74F-5E76-EA82-55571D8A2EF9}"/>
              </a:ext>
            </a:extLst>
          </p:cNvPr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6" name="Google Shape;616;p13">
            <a:extLst>
              <a:ext uri="{FF2B5EF4-FFF2-40B4-BE49-F238E27FC236}">
                <a16:creationId xmlns:a16="http://schemas.microsoft.com/office/drawing/2014/main" id="{CD68FFA3-B07D-982F-DCAE-8FA39685543F}"/>
              </a:ext>
            </a:extLst>
          </p:cNvPr>
          <p:cNvPicPr preferRelativeResize="0"/>
          <p:nvPr/>
        </p:nvPicPr>
        <p:blipFill rotWithShape="1">
          <a:blip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0051F5-1A4F-7FA3-A62F-2460A70C0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62390"/>
              </p:ext>
            </p:extLst>
          </p:nvPr>
        </p:nvGraphicFramePr>
        <p:xfrm>
          <a:off x="303825" y="1529792"/>
          <a:ext cx="8536350" cy="2261226"/>
        </p:xfrm>
        <a:graphic>
          <a:graphicData uri="http://schemas.openxmlformats.org/drawingml/2006/table">
            <a:tbl>
              <a:tblPr/>
              <a:tblGrid>
                <a:gridCol w="1123307">
                  <a:extLst>
                    <a:ext uri="{9D8B030D-6E8A-4147-A177-3AD203B41FA5}">
                      <a16:colId xmlns:a16="http://schemas.microsoft.com/office/drawing/2014/main" val="2193968696"/>
                    </a:ext>
                  </a:extLst>
                </a:gridCol>
                <a:gridCol w="1722143">
                  <a:extLst>
                    <a:ext uri="{9D8B030D-6E8A-4147-A177-3AD203B41FA5}">
                      <a16:colId xmlns:a16="http://schemas.microsoft.com/office/drawing/2014/main" val="4278526768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4018878049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3702611327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2298508304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611218331"/>
                    </a:ext>
                  </a:extLst>
                </a:gridCol>
              </a:tblGrid>
              <a:tr h="437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FR-06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생장 환경 최적화 제어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측정된 </a:t>
                      </a:r>
                      <a:r>
                        <a:rPr lang="ko-KR" sz="1200" dirty="0" err="1"/>
                        <a:t>온·습도</a:t>
                      </a:r>
                      <a:r>
                        <a:rPr lang="ko-KR" sz="1200" dirty="0"/>
                        <a:t> 값을 </a:t>
                      </a:r>
                      <a:r>
                        <a:rPr lang="ko-KR" sz="1200" dirty="0" err="1"/>
                        <a:t>목표값과</a:t>
                      </a:r>
                      <a:r>
                        <a:rPr lang="ko-KR" sz="1200" dirty="0"/>
                        <a:t> 비교하고 PID 제어를 수행한다.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온도, 습도, 목표 설정값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PID 제어 알고리즘 수행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냉난방기, 가습기, 환풍기 제어 명령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66382"/>
                  </a:ext>
                </a:extLst>
              </a:tr>
              <a:tr h="446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FR-07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이상 상태 알림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위험 상태 또는 병해충 발생 시 관리자에게 알림을 전송한다.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AI 분석 결과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이벤트 감지 및 알림 생성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앱 알림, SMS, 경고 메시지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433036"/>
                  </a:ext>
                </a:extLst>
              </a:tr>
              <a:tr h="3851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FR-08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데이터 저장 및 이력 관리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센서 데이터 및 분석 결과를 데이터베이스에 저장한다.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센서 데이터, 분석 결과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DB 저장 및 이력 관리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조회 가능한 이력 데이터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143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93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214439DD-8808-7654-EB92-44E41C14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">
            <a:extLst>
              <a:ext uri="{FF2B5EF4-FFF2-40B4-BE49-F238E27FC236}">
                <a16:creationId xmlns:a16="http://schemas.microsoft.com/office/drawing/2014/main" id="{D8C4A446-AFB4-8D06-E2A6-E2C465060FB8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10" name="Google Shape;610;p13">
            <a:extLst>
              <a:ext uri="{FF2B5EF4-FFF2-40B4-BE49-F238E27FC236}">
                <a16:creationId xmlns:a16="http://schemas.microsoft.com/office/drawing/2014/main" id="{A9B039DE-0AB9-AFA1-482E-03888C8FDC11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3">
            <a:extLst>
              <a:ext uri="{FF2B5EF4-FFF2-40B4-BE49-F238E27FC236}">
                <a16:creationId xmlns:a16="http://schemas.microsoft.com/office/drawing/2014/main" id="{A5ACE324-A616-B3DE-FC90-3ABD9D416C92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13">
            <a:extLst>
              <a:ext uri="{FF2B5EF4-FFF2-40B4-BE49-F238E27FC236}">
                <a16:creationId xmlns:a16="http://schemas.microsoft.com/office/drawing/2014/main" id="{954C4900-8F33-65E8-4785-20E6D194204F}"/>
              </a:ext>
            </a:extLst>
          </p:cNvPr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요구사항 정의서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3">
            <a:extLst>
              <a:ext uri="{FF2B5EF4-FFF2-40B4-BE49-F238E27FC236}">
                <a16:creationId xmlns:a16="http://schemas.microsoft.com/office/drawing/2014/main" id="{3E488CD8-8732-53E2-87E2-9A5B5525861B}"/>
              </a:ext>
            </a:extLst>
          </p:cNvPr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6" name="Google Shape;616;p13">
            <a:extLst>
              <a:ext uri="{FF2B5EF4-FFF2-40B4-BE49-F238E27FC236}">
                <a16:creationId xmlns:a16="http://schemas.microsoft.com/office/drawing/2014/main" id="{E7C45350-6AF3-0A53-183E-802A25A38C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E6636E-9EED-5422-A168-5201288EA344}"/>
              </a:ext>
            </a:extLst>
          </p:cNvPr>
          <p:cNvGraphicFramePr>
            <a:graphicFrameLocks noGrp="1"/>
          </p:cNvGraphicFramePr>
          <p:nvPr/>
        </p:nvGraphicFramePr>
        <p:xfrm>
          <a:off x="518488" y="3180925"/>
          <a:ext cx="8507955" cy="3322320"/>
        </p:xfrm>
        <a:graphic>
          <a:graphicData uri="http://schemas.openxmlformats.org/drawingml/2006/table">
            <a:tbl>
              <a:tblPr/>
              <a:tblGrid>
                <a:gridCol w="2835985">
                  <a:extLst>
                    <a:ext uri="{9D8B030D-6E8A-4147-A177-3AD203B41FA5}">
                      <a16:colId xmlns:a16="http://schemas.microsoft.com/office/drawing/2014/main" val="1238903155"/>
                    </a:ext>
                  </a:extLst>
                </a:gridCol>
                <a:gridCol w="2835985">
                  <a:extLst>
                    <a:ext uri="{9D8B030D-6E8A-4147-A177-3AD203B41FA5}">
                      <a16:colId xmlns:a16="http://schemas.microsoft.com/office/drawing/2014/main" val="3733680759"/>
                    </a:ext>
                  </a:extLst>
                </a:gridCol>
                <a:gridCol w="2835985">
                  <a:extLst>
                    <a:ext uri="{9D8B030D-6E8A-4147-A177-3AD203B41FA5}">
                      <a16:colId xmlns:a16="http://schemas.microsoft.com/office/drawing/2014/main" val="330505814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요구사항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요구사항명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상세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0998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NFR-01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실시간성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센서 데이터는 1분 이내 주기로 갱신되어야 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73766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NFR-02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정확성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AI 병해충 판별 정확도는 90% 이상이어야 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86917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NFR-03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시스템 가동률은 99% 이상을 유지해야 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294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NFR-04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사용성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관리자 화면에서 모든 셀의 상태를 한 화면에서 확인할 수 있어야 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1529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NFR-05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보안성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사용자 로그인 및 권한 관리 기능을 제공해야 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67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46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5BF6723-47E3-37D4-D6F1-1EBA7906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">
            <a:extLst>
              <a:ext uri="{FF2B5EF4-FFF2-40B4-BE49-F238E27FC236}">
                <a16:creationId xmlns:a16="http://schemas.microsoft.com/office/drawing/2014/main" id="{3E1D94A0-253C-8E49-F72A-FE339D7CBDC6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10" name="Google Shape;610;p13">
            <a:extLst>
              <a:ext uri="{FF2B5EF4-FFF2-40B4-BE49-F238E27FC236}">
                <a16:creationId xmlns:a16="http://schemas.microsoft.com/office/drawing/2014/main" id="{915F8CD8-4BAB-77B0-32C7-81A76A81E591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3">
            <a:extLst>
              <a:ext uri="{FF2B5EF4-FFF2-40B4-BE49-F238E27FC236}">
                <a16:creationId xmlns:a16="http://schemas.microsoft.com/office/drawing/2014/main" id="{E935A1A6-4E2D-E263-B759-DBCB04D22C28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13">
            <a:extLst>
              <a:ext uri="{FF2B5EF4-FFF2-40B4-BE49-F238E27FC236}">
                <a16:creationId xmlns:a16="http://schemas.microsoft.com/office/drawing/2014/main" id="{173EE900-72D6-F2CC-4591-9335636136B2}"/>
              </a:ext>
            </a:extLst>
          </p:cNvPr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요구사항 정의서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3">
            <a:extLst>
              <a:ext uri="{FF2B5EF4-FFF2-40B4-BE49-F238E27FC236}">
                <a16:creationId xmlns:a16="http://schemas.microsoft.com/office/drawing/2014/main" id="{13DC3231-9F8F-B542-D9CA-8CEE2E30A37D}"/>
              </a:ext>
            </a:extLst>
          </p:cNvPr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6" name="Google Shape;616;p13">
            <a:extLst>
              <a:ext uri="{FF2B5EF4-FFF2-40B4-BE49-F238E27FC236}">
                <a16:creationId xmlns:a16="http://schemas.microsoft.com/office/drawing/2014/main" id="{5541E9AD-2C2D-8626-09DE-6F30FCA0C2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1E02C41-9717-2335-FAAE-A277FB4CA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14225"/>
              </p:ext>
            </p:extLst>
          </p:nvPr>
        </p:nvGraphicFramePr>
        <p:xfrm>
          <a:off x="976756" y="2160588"/>
          <a:ext cx="5614101" cy="3881436"/>
        </p:xfrm>
        <a:graphic>
          <a:graphicData uri="http://schemas.openxmlformats.org/drawingml/2006/table">
            <a:tbl>
              <a:tblPr/>
              <a:tblGrid>
                <a:gridCol w="1871367">
                  <a:extLst>
                    <a:ext uri="{9D8B030D-6E8A-4147-A177-3AD203B41FA5}">
                      <a16:colId xmlns:a16="http://schemas.microsoft.com/office/drawing/2014/main" val="563237977"/>
                    </a:ext>
                  </a:extLst>
                </a:gridCol>
                <a:gridCol w="1871367">
                  <a:extLst>
                    <a:ext uri="{9D8B030D-6E8A-4147-A177-3AD203B41FA5}">
                      <a16:colId xmlns:a16="http://schemas.microsoft.com/office/drawing/2014/main" val="1476872437"/>
                    </a:ext>
                  </a:extLst>
                </a:gridCol>
                <a:gridCol w="1871367">
                  <a:extLst>
                    <a:ext uri="{9D8B030D-6E8A-4147-A177-3AD203B41FA5}">
                      <a16:colId xmlns:a16="http://schemas.microsoft.com/office/drawing/2014/main" val="3969857350"/>
                    </a:ext>
                  </a:extLst>
                </a:gridCol>
              </a:tblGrid>
              <a:tr h="269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요구사항 ID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요구사항명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상세 내용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345950"/>
                  </a:ext>
                </a:extLst>
              </a:tr>
              <a:tr h="646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NFR-01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측정 정확성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온·습도 센서는 일정 오차 범위 내에서 하우스 환경을 측정해야 한다.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29342"/>
                  </a:ext>
                </a:extLst>
              </a:tr>
              <a:tr h="646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NFR-02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제어 응답성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상위 제어 명령 수신 후 로봇 동작 명령으로 빠르게 변환되어야 한다.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510032"/>
                  </a:ext>
                </a:extLst>
              </a:tr>
              <a:tr h="646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NFR-03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동작 안정성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6축 로봇은 지정된 작업 범위 내에서 안전하게 동작해야 한다.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938749"/>
                  </a:ext>
                </a:extLst>
              </a:tr>
              <a:tr h="8355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NFR-04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인식 정확성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바코드 및 식물 인식 결과는 작업 처리에 활용 가능한 수준의 정확도를 가져야 한다.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753909"/>
                  </a:ext>
                </a:extLst>
              </a:tr>
              <a:tr h="8355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NFR-05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이력 관리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보식 작업 결과와 인식 데이터는 추후 조회가 가능하도록 저장되어야 한다.</a:t>
                      </a:r>
                    </a:p>
                  </a:txBody>
                  <a:tcPr marL="80863" marR="80863" marT="40432" marB="40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895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9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B30DEEC7-FCBE-7B38-8672-FE3F97D1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">
            <a:extLst>
              <a:ext uri="{FF2B5EF4-FFF2-40B4-BE49-F238E27FC236}">
                <a16:creationId xmlns:a16="http://schemas.microsoft.com/office/drawing/2014/main" id="{30888EEE-F3F8-CAB6-DF39-908328B0EFC1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10" name="Google Shape;610;p13">
            <a:extLst>
              <a:ext uri="{FF2B5EF4-FFF2-40B4-BE49-F238E27FC236}">
                <a16:creationId xmlns:a16="http://schemas.microsoft.com/office/drawing/2014/main" id="{3CAB9B1F-ED32-FFD0-6829-43E711986F9F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3">
            <a:extLst>
              <a:ext uri="{FF2B5EF4-FFF2-40B4-BE49-F238E27FC236}">
                <a16:creationId xmlns:a16="http://schemas.microsoft.com/office/drawing/2014/main" id="{6D7C1EA8-AF62-B228-BD89-250A3526F88D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13">
            <a:extLst>
              <a:ext uri="{FF2B5EF4-FFF2-40B4-BE49-F238E27FC236}">
                <a16:creationId xmlns:a16="http://schemas.microsoft.com/office/drawing/2014/main" id="{E52D1A65-4198-DDEB-9631-67562D6B13CF}"/>
              </a:ext>
            </a:extLst>
          </p:cNvPr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요구사항 정의서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3">
            <a:extLst>
              <a:ext uri="{FF2B5EF4-FFF2-40B4-BE49-F238E27FC236}">
                <a16:creationId xmlns:a16="http://schemas.microsoft.com/office/drawing/2014/main" id="{A51A8CE5-88CE-195D-EB21-F6A900542742}"/>
              </a:ext>
            </a:extLst>
          </p:cNvPr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6" name="Google Shape;616;p13">
            <a:extLst>
              <a:ext uri="{FF2B5EF4-FFF2-40B4-BE49-F238E27FC236}">
                <a16:creationId xmlns:a16="http://schemas.microsoft.com/office/drawing/2014/main" id="{4906A1B9-CE49-D9D9-AA0F-9CBEC497AA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53BC15-FC91-2AF0-62C4-2184A06C1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00685"/>
              </p:ext>
            </p:extLst>
          </p:nvPr>
        </p:nvGraphicFramePr>
        <p:xfrm>
          <a:off x="323528" y="1283909"/>
          <a:ext cx="8536350" cy="4705332"/>
        </p:xfrm>
        <a:graphic>
          <a:graphicData uri="http://schemas.openxmlformats.org/drawingml/2006/table">
            <a:tbl>
              <a:tblPr/>
              <a:tblGrid>
                <a:gridCol w="1123307">
                  <a:extLst>
                    <a:ext uri="{9D8B030D-6E8A-4147-A177-3AD203B41FA5}">
                      <a16:colId xmlns:a16="http://schemas.microsoft.com/office/drawing/2014/main" val="1803527377"/>
                    </a:ext>
                  </a:extLst>
                </a:gridCol>
                <a:gridCol w="1722143">
                  <a:extLst>
                    <a:ext uri="{9D8B030D-6E8A-4147-A177-3AD203B41FA5}">
                      <a16:colId xmlns:a16="http://schemas.microsoft.com/office/drawing/2014/main" val="951969537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345782238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13849149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3015310389"/>
                    </a:ext>
                  </a:extLst>
                </a:gridCol>
                <a:gridCol w="1422725">
                  <a:extLst>
                    <a:ext uri="{9D8B030D-6E8A-4147-A177-3AD203B41FA5}">
                      <a16:colId xmlns:a16="http://schemas.microsoft.com/office/drawing/2014/main" val="2377660655"/>
                    </a:ext>
                  </a:extLst>
                </a:gridCol>
              </a:tblGrid>
              <a:tr h="125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요구사항 ID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요구사항명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상세 내용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입력 데이터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처리 내용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출력 결과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281734"/>
                  </a:ext>
                </a:extLst>
              </a:tr>
              <a:tr h="2392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FR-01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하우스 식물 </a:t>
                      </a:r>
                      <a:r>
                        <a:rPr lang="ko-KR" sz="1200" dirty="0" err="1"/>
                        <a:t>온·습도</a:t>
                      </a:r>
                      <a:r>
                        <a:rPr lang="ko-KR" sz="1200" dirty="0"/>
                        <a:t> 상태 조회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최근 7일간 누적된 온도 및 습도 데이터를 조회하고 그래프로 </a:t>
                      </a:r>
                      <a:r>
                        <a:rPr lang="ko-KR" sz="1200" dirty="0" err="1"/>
                        <a:t>시각화한다</a:t>
                      </a:r>
                      <a:r>
                        <a:rPr lang="ko-KR" sz="1200" dirty="0"/>
                        <a:t>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온도 센서 데이터, 습도 센서 데이터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일별 데이터 수집 및 그래프 생성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 err="1"/>
                        <a:t>온도·습도</a:t>
                      </a:r>
                      <a:r>
                        <a:rPr lang="ko-KR" sz="1200" dirty="0"/>
                        <a:t> 추이 그래프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303856"/>
                  </a:ext>
                </a:extLst>
              </a:tr>
              <a:tr h="540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FR-02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식물셀 상시 모니터링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4개 식물셀의 상태를 실시간으로 감시하고 병해충 발생 여부를 확인한다.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카메라 영상, 환경 센서 데이터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이미지 분석 및 상태 판별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식물 상태 정보, 병해충 발생 알림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171029"/>
                  </a:ext>
                </a:extLst>
              </a:tr>
              <a:tr h="540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FR-03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AI 드라이브 자동 판단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설정된 임계값을 초과한 경우 AI가 자동으로 상태를 분석하여 위험 여부를 판단한다.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환경 데이터, 식물 상태 데이터, 임계값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AI 모델 기반 위험도 분석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정상/주의/위험 상태 결과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60415"/>
                  </a:ext>
                </a:extLst>
              </a:tr>
              <a:tr h="488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FR-04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보식 작업 결정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AI 분석 결과를 기반으로 문제가 발생한 식물셀의 보식 필요 여부를 결정한다.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AI 분석 결과, 식물 상태 정보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보식 필요성 판단 알고리즘 수행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보식 필요 여부 및 대상 셀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691797"/>
                  </a:ext>
                </a:extLst>
              </a:tr>
              <a:tr h="488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FR-05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성장률 및 생산성 분석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보식 날짜를 기준으로 식물셀별 평균 성장률과 전체 생산성을 계산한다.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보식 이력, 생육 데이터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/>
                        <a:t>성장률 계산 및 생산성 분석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셀별 성장률, 생산성 지표</a:t>
                      </a:r>
                    </a:p>
                  </a:txBody>
                  <a:tcPr marL="22222" marR="22222" marT="11111" marB="111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115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47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44" name="Google Shape;544;p1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1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12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en-US" altLang="ko-KR" sz="1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Trebuchet MS"/>
                <a:sym typeface="Trebuchet MS"/>
              </a:rPr>
              <a:t>| </a:t>
            </a:r>
            <a:r>
              <a:rPr lang="ko-KR" altLang="en-US" sz="1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Trebuchet MS"/>
                <a:sym typeface="Trebuchet MS"/>
              </a:rPr>
              <a:t>유즈케이스 정의서</a:t>
            </a:r>
            <a:endParaRPr sz="1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Trebuchet MS"/>
              <a:sym typeface="Trebuchet MS"/>
            </a:endParaRPr>
          </a:p>
        </p:txBody>
      </p:sp>
      <p:sp>
        <p:nvSpPr>
          <p:cNvPr id="547" name="Google Shape;547;p1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8" name="Google Shape;548;p1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2"/>
          <p:cNvSpPr/>
          <p:nvPr/>
        </p:nvSpPr>
        <p:spPr>
          <a:xfrm>
            <a:off x="241300" y="1283910"/>
            <a:ext cx="8661400" cy="38100"/>
          </a:xfrm>
          <a:prstGeom prst="rect">
            <a:avLst/>
          </a:prstGeom>
          <a:solidFill>
            <a:srgbClr val="315D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2E21A-C9D4-47AA-AAA9-DCE79588493D}"/>
              </a:ext>
            </a:extLst>
          </p:cNvPr>
          <p:cNvSpPr txBox="1"/>
          <p:nvPr/>
        </p:nvSpPr>
        <p:spPr>
          <a:xfrm>
            <a:off x="457200" y="1333500"/>
            <a:ext cx="787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050" b="1">
                <a:solidFill>
                  <a:srgbClr val="5B6F16"/>
                </a:solidFill>
                <a:latin typeface="Malgun Gothic"/>
                <a:ea typeface="Malgun Gothic"/>
              </a:rPr>
              <a:t>사용자가 시스템으로 무엇을 하는지 시나리오로 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CC528B-2AE2-4424-A5BD-B4FD8A3BE059}"/>
              </a:ext>
            </a:extLst>
          </p:cNvPr>
          <p:cNvSpPr/>
          <p:nvPr/>
        </p:nvSpPr>
        <p:spPr>
          <a:xfrm>
            <a:off x="406400" y="1714500"/>
            <a:ext cx="8229600" cy="381000"/>
          </a:xfrm>
          <a:prstGeom prst="rect">
            <a:avLst/>
          </a:prstGeom>
          <a:solidFill>
            <a:srgbClr val="78A91C"/>
          </a:solidFill>
          <a:ln w="12700" cap="flat" cmpd="sng" algn="ctr">
            <a:solidFill>
              <a:srgbClr val="78A91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FAEE9-FB34-4983-B356-EEE6E404CA72}"/>
              </a:ext>
            </a:extLst>
          </p:cNvPr>
          <p:cNvSpPr txBox="1"/>
          <p:nvPr/>
        </p:nvSpPr>
        <p:spPr>
          <a:xfrm>
            <a:off x="584200" y="1790700"/>
            <a:ext cx="787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UC-01 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온실 환경 확인 및 제어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6413ED-8404-4E65-A867-0384A21C3F72}"/>
              </a:ext>
            </a:extLst>
          </p:cNvPr>
          <p:cNvSpPr/>
          <p:nvPr/>
        </p:nvSpPr>
        <p:spPr>
          <a:xfrm>
            <a:off x="431800" y="2260600"/>
            <a:ext cx="3810000" cy="311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04B57D-1B0D-45B6-BE29-06573B082536}"/>
              </a:ext>
            </a:extLst>
          </p:cNvPr>
          <p:cNvSpPr/>
          <p:nvPr/>
        </p:nvSpPr>
        <p:spPr>
          <a:xfrm>
            <a:off x="431800" y="2260600"/>
            <a:ext cx="3810000" cy="304800"/>
          </a:xfrm>
          <a:prstGeom prst="rect">
            <a:avLst/>
          </a:prstGeom>
          <a:solidFill>
            <a:srgbClr val="F3F8EA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5917A-4102-49A2-9506-D0AFC705240B}"/>
              </a:ext>
            </a:extLst>
          </p:cNvPr>
          <p:cNvSpPr txBox="1"/>
          <p:nvPr/>
        </p:nvSpPr>
        <p:spPr>
          <a:xfrm>
            <a:off x="584200" y="2324100"/>
            <a:ext cx="342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기본 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8C405B-BFAA-43BA-9E38-EFD70A0E72E4}"/>
              </a:ext>
            </a:extLst>
          </p:cNvPr>
          <p:cNvSpPr/>
          <p:nvPr/>
        </p:nvSpPr>
        <p:spPr>
          <a:xfrm>
            <a:off x="609600" y="27178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82140-480F-4EAC-88A7-55F151A4C5EE}"/>
              </a:ext>
            </a:extLst>
          </p:cNvPr>
          <p:cNvSpPr txBox="1"/>
          <p:nvPr/>
        </p:nvSpPr>
        <p:spPr>
          <a:xfrm>
            <a:off x="673100" y="28194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ko-KR" altLang="en-US" sz="800" b="1">
                <a:solidFill>
                  <a:srgbClr val="1E3568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2C298-12DE-4956-9CEF-1B2CBB9FD0FD}"/>
              </a:ext>
            </a:extLst>
          </p:cNvPr>
          <p:cNvSpPr txBox="1"/>
          <p:nvPr/>
        </p:nvSpPr>
        <p:spPr>
          <a:xfrm>
            <a:off x="1524000" y="27813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10000"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관리자가 온실 상태를 확인하고 필요 시 제어한다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EAAC51-2FDA-4520-96ED-0C49E0394B19}"/>
              </a:ext>
            </a:extLst>
          </p:cNvPr>
          <p:cNvSpPr/>
          <p:nvPr/>
        </p:nvSpPr>
        <p:spPr>
          <a:xfrm>
            <a:off x="609600" y="32639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208E4-01A2-4AFB-A5FE-5497AFA1F423}"/>
              </a:ext>
            </a:extLst>
          </p:cNvPr>
          <p:cNvSpPr txBox="1"/>
          <p:nvPr/>
        </p:nvSpPr>
        <p:spPr>
          <a:xfrm>
            <a:off x="673100" y="33655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ko-KR" altLang="en-US" sz="800" b="1">
                <a:solidFill>
                  <a:srgbClr val="1E3568"/>
                </a:solidFill>
                <a:latin typeface="Malgun Gothic"/>
                <a:ea typeface="Malgun Gothic"/>
              </a:rPr>
              <a:t>사용자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3307D-7B86-4262-AA5F-38141CD38F3E}"/>
              </a:ext>
            </a:extLst>
          </p:cNvPr>
          <p:cNvSpPr txBox="1"/>
          <p:nvPr/>
        </p:nvSpPr>
        <p:spPr>
          <a:xfrm>
            <a:off x="1524000" y="33274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농장 관리자 </a:t>
            </a:r>
            <a:r>
              <a:rPr lang="en-US" altLang="ko-KR" sz="830">
                <a:solidFill>
                  <a:srgbClr val="1E2A39"/>
                </a:solidFill>
                <a:latin typeface="Malgun Gothic"/>
                <a:ea typeface="Malgun Gothic"/>
              </a:rPr>
              <a:t>/ </a:t>
            </a:r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운영 담당자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CE6624-E19E-4328-8189-04E989755A9B}"/>
              </a:ext>
            </a:extLst>
          </p:cNvPr>
          <p:cNvSpPr/>
          <p:nvPr/>
        </p:nvSpPr>
        <p:spPr>
          <a:xfrm>
            <a:off x="609600" y="38100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51829-41C1-403C-A9A4-2670301308AB}"/>
              </a:ext>
            </a:extLst>
          </p:cNvPr>
          <p:cNvSpPr txBox="1"/>
          <p:nvPr/>
        </p:nvSpPr>
        <p:spPr>
          <a:xfrm>
            <a:off x="673100" y="39116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ko-KR" altLang="en-US" sz="800" b="1">
                <a:solidFill>
                  <a:srgbClr val="1E3568"/>
                </a:solidFill>
                <a:latin typeface="Malgun Gothic"/>
                <a:ea typeface="Malgun Gothic"/>
              </a:rPr>
              <a:t>시작 조건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51BAB1-4505-4AC9-B522-FE9FC4E9860C}"/>
              </a:ext>
            </a:extLst>
          </p:cNvPr>
          <p:cNvSpPr txBox="1"/>
          <p:nvPr/>
        </p:nvSpPr>
        <p:spPr>
          <a:xfrm>
            <a:off x="1524000" y="38735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관리자가 시스템에 로그인되어 있음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41729A-A9A0-4CCD-8B70-93E1BFC1FAA5}"/>
              </a:ext>
            </a:extLst>
          </p:cNvPr>
          <p:cNvSpPr/>
          <p:nvPr/>
        </p:nvSpPr>
        <p:spPr>
          <a:xfrm>
            <a:off x="609600" y="43561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9989E8-D19D-4BBF-B155-198BAC2F2B59}"/>
              </a:ext>
            </a:extLst>
          </p:cNvPr>
          <p:cNvSpPr txBox="1"/>
          <p:nvPr/>
        </p:nvSpPr>
        <p:spPr>
          <a:xfrm>
            <a:off x="673100" y="44577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ko-KR" altLang="en-US" sz="800" b="1">
                <a:solidFill>
                  <a:srgbClr val="1E3568"/>
                </a:solidFill>
                <a:latin typeface="Malgun Gothic"/>
                <a:ea typeface="Malgun Gothic"/>
              </a:rPr>
              <a:t>완료 조건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56C06-6A73-443E-9739-48B21681D11E}"/>
              </a:ext>
            </a:extLst>
          </p:cNvPr>
          <p:cNvSpPr txBox="1"/>
          <p:nvPr/>
        </p:nvSpPr>
        <p:spPr>
          <a:xfrm>
            <a:off x="1524000" y="44196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현재 상태 확인 또는 제어 명령이 정상 반영됨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A161AC-0E85-4736-A052-D614429D4E86}"/>
              </a:ext>
            </a:extLst>
          </p:cNvPr>
          <p:cNvSpPr/>
          <p:nvPr/>
        </p:nvSpPr>
        <p:spPr>
          <a:xfrm>
            <a:off x="4495800" y="2260600"/>
            <a:ext cx="2565400" cy="311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DE7FAE-B347-470F-9D0F-485A7BBE09D8}"/>
              </a:ext>
            </a:extLst>
          </p:cNvPr>
          <p:cNvSpPr/>
          <p:nvPr/>
        </p:nvSpPr>
        <p:spPr>
          <a:xfrm>
            <a:off x="4495800" y="2260600"/>
            <a:ext cx="2565400" cy="304800"/>
          </a:xfrm>
          <a:prstGeom prst="rect">
            <a:avLst/>
          </a:prstGeom>
          <a:solidFill>
            <a:srgbClr val="78A91C"/>
          </a:solidFill>
          <a:ln w="12700" cap="flat" cmpd="sng" algn="ctr">
            <a:solidFill>
              <a:srgbClr val="78A91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ED8CF7-8415-4293-9AE0-2C38C7A4A30C}"/>
              </a:ext>
            </a:extLst>
          </p:cNvPr>
          <p:cNvSpPr txBox="1"/>
          <p:nvPr/>
        </p:nvSpPr>
        <p:spPr>
          <a:xfrm>
            <a:off x="4648200" y="23241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기본 흐름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8B5FDC-9659-483E-85A4-4C2E31EC7AD0}"/>
              </a:ext>
            </a:extLst>
          </p:cNvPr>
          <p:cNvSpPr txBox="1"/>
          <p:nvPr/>
        </p:nvSpPr>
        <p:spPr>
          <a:xfrm>
            <a:off x="4673600" y="2717800"/>
            <a:ext cx="21844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1.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대시보드에서 온실 선택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2.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온도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·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습도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·CO₂·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조도 확인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3.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이상 항목 경고 확인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4.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관수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/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환기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/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난방 제어 실행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5.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실행 결과와 이력 저장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1BD2C7-69AD-4516-B023-FB7C80C89EC9}"/>
              </a:ext>
            </a:extLst>
          </p:cNvPr>
          <p:cNvSpPr/>
          <p:nvPr/>
        </p:nvSpPr>
        <p:spPr>
          <a:xfrm>
            <a:off x="7213600" y="2260600"/>
            <a:ext cx="1498600" cy="3111500"/>
          </a:xfrm>
          <a:prstGeom prst="rect">
            <a:avLst/>
          </a:prstGeom>
          <a:solidFill>
            <a:srgbClr val="F3F8EA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AACD84-37F0-49D8-8644-DFE78157FE4B}"/>
              </a:ext>
            </a:extLst>
          </p:cNvPr>
          <p:cNvSpPr txBox="1"/>
          <p:nvPr/>
        </p:nvSpPr>
        <p:spPr>
          <a:xfrm>
            <a:off x="7340600" y="2387600"/>
            <a:ext cx="116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920" b="1">
                <a:solidFill>
                  <a:srgbClr val="1E3568"/>
                </a:solidFill>
                <a:latin typeface="Malgun Gothic"/>
                <a:ea typeface="Malgun Gothic"/>
              </a:rPr>
              <a:t>예외</a:t>
            </a:r>
            <a:r>
              <a:rPr lang="en-US" altLang="ko-KR" sz="920" b="1">
                <a:solidFill>
                  <a:srgbClr val="1E3568"/>
                </a:solidFill>
                <a:latin typeface="Malgun Gothic"/>
                <a:ea typeface="Malgun Gothic"/>
              </a:rPr>
              <a:t>/</a:t>
            </a:r>
            <a:r>
              <a:rPr lang="ko-KR" altLang="en-US" sz="920" b="1">
                <a:solidFill>
                  <a:srgbClr val="1E3568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3EB9CA-C153-43C3-9898-513E6EABDFE5}"/>
              </a:ext>
            </a:extLst>
          </p:cNvPr>
          <p:cNvSpPr txBox="1"/>
          <p:nvPr/>
        </p:nvSpPr>
        <p:spPr>
          <a:xfrm>
            <a:off x="7340600" y="2768600"/>
            <a:ext cx="11684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센서 값 미수신 시 데이터 없음 표시
</a:t>
            </a:r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장비 응답 실패 시 재시도 및 알림
</a:t>
            </a:r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자동제어 모드에서는 기준값에 따라 실행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2E3502-C8F2-4FED-8DB8-AFB0BCA0258A}"/>
              </a:ext>
            </a:extLst>
          </p:cNvPr>
          <p:cNvSpPr/>
          <p:nvPr/>
        </p:nvSpPr>
        <p:spPr>
          <a:xfrm>
            <a:off x="723900" y="5689600"/>
            <a:ext cx="7696200" cy="533400"/>
          </a:xfrm>
          <a:prstGeom prst="rect">
            <a:avLst/>
          </a:prstGeom>
          <a:solidFill>
            <a:srgbClr val="EFF5FF"/>
          </a:solidFill>
          <a:ln w="12700" cap="flat" cmpd="sng" algn="ctr">
            <a:solidFill>
              <a:srgbClr val="A8BE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5D9D1E-1043-40A6-B30C-3785C2D122C9}"/>
              </a:ext>
            </a:extLst>
          </p:cNvPr>
          <p:cNvSpPr txBox="1"/>
          <p:nvPr/>
        </p:nvSpPr>
        <p:spPr>
          <a:xfrm>
            <a:off x="965200" y="5842000"/>
            <a:ext cx="721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유즈케이스 → 사용자 행동 흐름 정리 → 기능 요구사항 도출의 근거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DAABE9-12CA-4BEE-A3A7-4C435F6DDFE1}"/>
              </a:ext>
            </a:extLst>
          </p:cNvPr>
          <p:cNvSpPr txBox="1"/>
          <p:nvPr/>
        </p:nvSpPr>
        <p:spPr>
          <a:xfrm>
            <a:off x="914400" y="6451600"/>
            <a:ext cx="723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ko-KR" altLang="en-US" sz="1050" b="1">
                <a:solidFill>
                  <a:srgbClr val="4C650F"/>
                </a:solidFill>
                <a:latin typeface="Malgun Gothic"/>
                <a:ea typeface="Malgun Gothic"/>
              </a:rPr>
              <a:t>핵심</a:t>
            </a:r>
            <a:r>
              <a:rPr lang="en-US" altLang="ko-KR" sz="1050" b="1">
                <a:solidFill>
                  <a:srgbClr val="4C650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050" b="1">
                <a:solidFill>
                  <a:srgbClr val="4C650F"/>
                </a:solidFill>
                <a:latin typeface="Malgun Gothic"/>
                <a:ea typeface="Malgun Gothic"/>
              </a:rPr>
              <a:t>유즈케이스는 “사용 장면과 흐름”을 보여준다</a:t>
            </a:r>
            <a:r>
              <a:rPr lang="en-US" altLang="ko-KR" sz="1050" b="1">
                <a:solidFill>
                  <a:srgbClr val="4C650F"/>
                </a:solidFill>
                <a:latin typeface="Malgun Gothic"/>
                <a:ea typeface="Malgun Gothic"/>
              </a:rPr>
              <a:t>.</a:t>
            </a:r>
            <a:endParaRPr lang="ko-KR" altLang="en-US" sz="1050" b="1">
              <a:solidFill>
                <a:srgbClr val="4C650F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04553134-D178-D9C9-3779-63A2E83D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2">
            <a:extLst>
              <a:ext uri="{FF2B5EF4-FFF2-40B4-BE49-F238E27FC236}">
                <a16:creationId xmlns:a16="http://schemas.microsoft.com/office/drawing/2014/main" id="{57D8F684-4E5A-1130-CC2A-E1412CB15165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44" name="Google Shape;544;p12">
            <a:extLst>
              <a:ext uri="{FF2B5EF4-FFF2-40B4-BE49-F238E27FC236}">
                <a16:creationId xmlns:a16="http://schemas.microsoft.com/office/drawing/2014/main" id="{27DD9147-BF43-C414-DD6D-E1658D3F1AC6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12">
            <a:extLst>
              <a:ext uri="{FF2B5EF4-FFF2-40B4-BE49-F238E27FC236}">
                <a16:creationId xmlns:a16="http://schemas.microsoft.com/office/drawing/2014/main" id="{68D7951A-B139-FBFB-E73F-F99E8AC7EAF6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12">
            <a:extLst>
              <a:ext uri="{FF2B5EF4-FFF2-40B4-BE49-F238E27FC236}">
                <a16:creationId xmlns:a16="http://schemas.microsoft.com/office/drawing/2014/main" id="{E5D70B32-F822-B264-C8EE-CCF80AFCDCD8}"/>
              </a:ext>
            </a:extLst>
          </p:cNvPr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en-US" altLang="ko-KR" sz="1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Trebuchet MS"/>
                <a:sym typeface="Trebuchet MS"/>
              </a:rPr>
              <a:t>| </a:t>
            </a:r>
            <a:r>
              <a:rPr lang="ko-KR" altLang="en-US" sz="1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Trebuchet MS"/>
                <a:sym typeface="Trebuchet MS"/>
              </a:rPr>
              <a:t>요구사항 정의서</a:t>
            </a:r>
            <a:endParaRPr sz="1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Trebuchet MS"/>
              <a:sym typeface="Trebuchet MS"/>
            </a:endParaRPr>
          </a:p>
        </p:txBody>
      </p:sp>
      <p:sp>
        <p:nvSpPr>
          <p:cNvPr id="547" name="Google Shape;547;p12">
            <a:extLst>
              <a:ext uri="{FF2B5EF4-FFF2-40B4-BE49-F238E27FC236}">
                <a16:creationId xmlns:a16="http://schemas.microsoft.com/office/drawing/2014/main" id="{9FB1581D-98E9-1B81-F68E-7AE7D30B9758}"/>
              </a:ext>
            </a:extLst>
          </p:cNvPr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8" name="Google Shape;548;p12">
            <a:extLst>
              <a:ext uri="{FF2B5EF4-FFF2-40B4-BE49-F238E27FC236}">
                <a16:creationId xmlns:a16="http://schemas.microsoft.com/office/drawing/2014/main" id="{578C7ECF-B55F-07DB-CDC2-4805F1A1A4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2">
            <a:extLst>
              <a:ext uri="{FF2B5EF4-FFF2-40B4-BE49-F238E27FC236}">
                <a16:creationId xmlns:a16="http://schemas.microsoft.com/office/drawing/2014/main" id="{62AB9BA2-C42B-33AB-F60E-C24B903AA422}"/>
              </a:ext>
            </a:extLst>
          </p:cNvPr>
          <p:cNvSpPr/>
          <p:nvPr/>
        </p:nvSpPr>
        <p:spPr>
          <a:xfrm>
            <a:off x="241300" y="1283910"/>
            <a:ext cx="8661400" cy="38100"/>
          </a:xfrm>
          <a:prstGeom prst="rect">
            <a:avLst/>
          </a:prstGeom>
          <a:solidFill>
            <a:srgbClr val="315D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3" name="Google Shape;603;p12">
            <a:extLst>
              <a:ext uri="{FF2B5EF4-FFF2-40B4-BE49-F238E27FC236}">
                <a16:creationId xmlns:a16="http://schemas.microsoft.com/office/drawing/2014/main" id="{4A3E535E-B3D5-115E-267E-477FC0EE178D}"/>
              </a:ext>
            </a:extLst>
          </p:cNvPr>
          <p:cNvSpPr/>
          <p:nvPr/>
        </p:nvSpPr>
        <p:spPr>
          <a:xfrm>
            <a:off x="736600" y="7429500"/>
            <a:ext cx="8572500" cy="45720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4" name="Google Shape;604;p12">
            <a:extLst>
              <a:ext uri="{FF2B5EF4-FFF2-40B4-BE49-F238E27FC236}">
                <a16:creationId xmlns:a16="http://schemas.microsoft.com/office/drawing/2014/main" id="{35953A55-5002-E66D-E52A-CBC8124B4FCD}"/>
              </a:ext>
            </a:extLst>
          </p:cNvPr>
          <p:cNvSpPr txBox="1"/>
          <p:nvPr/>
        </p:nvSpPr>
        <p:spPr>
          <a:xfrm>
            <a:off x="965200" y="7581900"/>
            <a:ext cx="80010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>
                <a:solidFill>
                  <a:srgbClr val="234A7D"/>
                </a:solidFill>
                <a:latin typeface="Trebuchet MS"/>
                <a:ea typeface="Trebuchet MS"/>
                <a:cs typeface="Trebuchet MS"/>
                <a:sym typeface="Trebuchet MS"/>
              </a:rPr>
              <a:t>최종 산출물: 요구사항 목록표 + 유즈케이스 상세표 + 요구사항-유즈케이스 추적표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75445-DD8F-4998-A372-64127188B0D3}"/>
              </a:ext>
            </a:extLst>
          </p:cNvPr>
          <p:cNvSpPr txBox="1"/>
          <p:nvPr/>
        </p:nvSpPr>
        <p:spPr>
          <a:xfrm>
            <a:off x="457200" y="1333500"/>
            <a:ext cx="787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050" b="1">
                <a:solidFill>
                  <a:srgbClr val="5B6F16"/>
                </a:solidFill>
                <a:latin typeface="Malgun Gothic"/>
                <a:ea typeface="Malgun Gothic"/>
              </a:rPr>
              <a:t>시스템이 제공해야 할 기능과 품질 조건을 목록으로 정의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DBB03C-3641-44E4-A686-1B3C3149E7D4}"/>
              </a:ext>
            </a:extLst>
          </p:cNvPr>
          <p:cNvSpPr/>
          <p:nvPr/>
        </p:nvSpPr>
        <p:spPr>
          <a:xfrm>
            <a:off x="406400" y="1714500"/>
            <a:ext cx="8229600" cy="381000"/>
          </a:xfrm>
          <a:prstGeom prst="rect">
            <a:avLst/>
          </a:prstGeom>
          <a:solidFill>
            <a:srgbClr val="78A91C"/>
          </a:solidFill>
          <a:ln w="12700" cap="flat" cmpd="sng" algn="ctr">
            <a:solidFill>
              <a:srgbClr val="78A91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BADFD-6ABA-4377-B619-DF57C630245B}"/>
              </a:ext>
            </a:extLst>
          </p:cNvPr>
          <p:cNvSpPr txBox="1"/>
          <p:nvPr/>
        </p:nvSpPr>
        <p:spPr>
          <a:xfrm>
            <a:off x="584200" y="1790700"/>
            <a:ext cx="787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딸기 스마트팜 시스템 요구사항 예시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1D65E7-39B2-428D-8AD5-F6B919CC45EF}"/>
              </a:ext>
            </a:extLst>
          </p:cNvPr>
          <p:cNvSpPr/>
          <p:nvPr/>
        </p:nvSpPr>
        <p:spPr>
          <a:xfrm>
            <a:off x="431800" y="2260600"/>
            <a:ext cx="3810000" cy="311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F84D4B-C9C4-4068-ACF5-F04B96C6DB99}"/>
              </a:ext>
            </a:extLst>
          </p:cNvPr>
          <p:cNvSpPr/>
          <p:nvPr/>
        </p:nvSpPr>
        <p:spPr>
          <a:xfrm>
            <a:off x="431800" y="2260600"/>
            <a:ext cx="3810000" cy="304800"/>
          </a:xfrm>
          <a:prstGeom prst="rect">
            <a:avLst/>
          </a:prstGeom>
          <a:solidFill>
            <a:srgbClr val="F3F8EA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ED679-E02D-4E95-86D7-292D1DC18748}"/>
              </a:ext>
            </a:extLst>
          </p:cNvPr>
          <p:cNvSpPr txBox="1"/>
          <p:nvPr/>
        </p:nvSpPr>
        <p:spPr>
          <a:xfrm>
            <a:off x="584200" y="2324100"/>
            <a:ext cx="342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기능 요구사항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42DCA6-453D-4974-A2B2-A3DAB11E0639}"/>
              </a:ext>
            </a:extLst>
          </p:cNvPr>
          <p:cNvSpPr/>
          <p:nvPr/>
        </p:nvSpPr>
        <p:spPr>
          <a:xfrm>
            <a:off x="609600" y="27178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648B9-FE48-4A0C-B086-B9AF439493AB}"/>
              </a:ext>
            </a:extLst>
          </p:cNvPr>
          <p:cNvSpPr txBox="1"/>
          <p:nvPr/>
        </p:nvSpPr>
        <p:spPr>
          <a:xfrm>
            <a:off x="673100" y="28194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ko-KR" sz="800" b="1">
                <a:solidFill>
                  <a:srgbClr val="1E3568"/>
                </a:solidFill>
                <a:latin typeface="Malgun Gothic"/>
                <a:ea typeface="Malgun Gothic"/>
              </a:rPr>
              <a:t>FR-01</a:t>
            </a:r>
            <a:endParaRPr lang="ko-KR" altLang="en-US" sz="800" b="1">
              <a:solidFill>
                <a:srgbClr val="1E3568"/>
              </a:solidFill>
              <a:latin typeface="Malgun Gothic"/>
              <a:ea typeface="Malgun Goth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6A417-4B29-411B-95F7-50F256740E5A}"/>
              </a:ext>
            </a:extLst>
          </p:cNvPr>
          <p:cNvSpPr txBox="1"/>
          <p:nvPr/>
        </p:nvSpPr>
        <p:spPr>
          <a:xfrm>
            <a:off x="1524000" y="27813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온실별 환경 데이터를 조회할 수 있어야 한다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2D2956-D93A-49BD-AEE9-97FEC51E98AC}"/>
              </a:ext>
            </a:extLst>
          </p:cNvPr>
          <p:cNvSpPr/>
          <p:nvPr/>
        </p:nvSpPr>
        <p:spPr>
          <a:xfrm>
            <a:off x="609600" y="32639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A72CD-6D96-479C-B988-52B869EE9D6D}"/>
              </a:ext>
            </a:extLst>
          </p:cNvPr>
          <p:cNvSpPr txBox="1"/>
          <p:nvPr/>
        </p:nvSpPr>
        <p:spPr>
          <a:xfrm>
            <a:off x="673100" y="33655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ko-KR" sz="800" b="1">
                <a:solidFill>
                  <a:srgbClr val="1E3568"/>
                </a:solidFill>
                <a:latin typeface="Malgun Gothic"/>
                <a:ea typeface="Malgun Gothic"/>
              </a:rPr>
              <a:t>FR-02</a:t>
            </a:r>
            <a:endParaRPr lang="ko-KR" altLang="en-US" sz="800" b="1">
              <a:solidFill>
                <a:srgbClr val="1E3568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D7858-A6FC-4E68-9E26-77EFE72B81CB}"/>
              </a:ext>
            </a:extLst>
          </p:cNvPr>
          <p:cNvSpPr txBox="1"/>
          <p:nvPr/>
        </p:nvSpPr>
        <p:spPr>
          <a:xfrm>
            <a:off x="1524000" y="33274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10000"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기준치 이탈 시 관리자에게 알림을 발송해야 한다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2915E6-E52A-4640-AEDC-CF197F87BC7A}"/>
              </a:ext>
            </a:extLst>
          </p:cNvPr>
          <p:cNvSpPr/>
          <p:nvPr/>
        </p:nvSpPr>
        <p:spPr>
          <a:xfrm>
            <a:off x="609600" y="38100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B3ABB-A32B-4DAF-AFC8-C789F93FC494}"/>
              </a:ext>
            </a:extLst>
          </p:cNvPr>
          <p:cNvSpPr txBox="1"/>
          <p:nvPr/>
        </p:nvSpPr>
        <p:spPr>
          <a:xfrm>
            <a:off x="673100" y="39116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ko-KR" sz="800" b="1">
                <a:solidFill>
                  <a:srgbClr val="1E3568"/>
                </a:solidFill>
                <a:latin typeface="Malgun Gothic"/>
                <a:ea typeface="Malgun Gothic"/>
              </a:rPr>
              <a:t>FR-03</a:t>
            </a:r>
            <a:endParaRPr lang="ko-KR" altLang="en-US" sz="800" b="1">
              <a:solidFill>
                <a:srgbClr val="1E3568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1D757-7FBE-4F72-B0E0-0B89F53DC2EC}"/>
              </a:ext>
            </a:extLst>
          </p:cNvPr>
          <p:cNvSpPr txBox="1"/>
          <p:nvPr/>
        </p:nvSpPr>
        <p:spPr>
          <a:xfrm>
            <a:off x="1524000" y="38735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관수</a:t>
            </a:r>
            <a:r>
              <a:rPr lang="en-US" altLang="ko-KR" sz="830">
                <a:solidFill>
                  <a:srgbClr val="1E2A39"/>
                </a:solidFill>
                <a:latin typeface="Malgun Gothic"/>
                <a:ea typeface="Malgun Gothic"/>
              </a:rPr>
              <a:t>·</a:t>
            </a:r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환기</a:t>
            </a:r>
            <a:r>
              <a:rPr lang="en-US" altLang="ko-KR" sz="830">
                <a:solidFill>
                  <a:srgbClr val="1E2A39"/>
                </a:solidFill>
                <a:latin typeface="Malgun Gothic"/>
                <a:ea typeface="Malgun Gothic"/>
              </a:rPr>
              <a:t>·</a:t>
            </a:r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난방 장치를 수동</a:t>
            </a:r>
            <a:r>
              <a:rPr lang="en-US" altLang="ko-KR" sz="830">
                <a:solidFill>
                  <a:srgbClr val="1E2A39"/>
                </a:solidFill>
                <a:latin typeface="Malgun Gothic"/>
                <a:ea typeface="Malgun Gothic"/>
              </a:rPr>
              <a:t>/</a:t>
            </a:r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자동 제어해야 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5BC810-7155-4B75-9542-AC7D78135848}"/>
              </a:ext>
            </a:extLst>
          </p:cNvPr>
          <p:cNvSpPr/>
          <p:nvPr/>
        </p:nvSpPr>
        <p:spPr>
          <a:xfrm>
            <a:off x="609600" y="4356100"/>
            <a:ext cx="787400" cy="381000"/>
          </a:xfrm>
          <a:prstGeom prst="rect">
            <a:avLst/>
          </a:prstGeom>
          <a:solidFill>
            <a:srgbClr val="EAF3DB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C8DC12-A77A-4E8B-892D-4D82C71F5A09}"/>
              </a:ext>
            </a:extLst>
          </p:cNvPr>
          <p:cNvSpPr txBox="1"/>
          <p:nvPr/>
        </p:nvSpPr>
        <p:spPr>
          <a:xfrm>
            <a:off x="673100" y="44577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ko-KR" sz="800" b="1">
                <a:solidFill>
                  <a:srgbClr val="1E3568"/>
                </a:solidFill>
                <a:latin typeface="Malgun Gothic"/>
                <a:ea typeface="Malgun Gothic"/>
              </a:rPr>
              <a:t>FR-04</a:t>
            </a:r>
            <a:endParaRPr lang="ko-KR" altLang="en-US" sz="800" b="1">
              <a:solidFill>
                <a:srgbClr val="1E3568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9B3673-D6EF-41F6-9AF0-6DC086AA9305}"/>
              </a:ext>
            </a:extLst>
          </p:cNvPr>
          <p:cNvSpPr txBox="1"/>
          <p:nvPr/>
        </p:nvSpPr>
        <p:spPr>
          <a:xfrm>
            <a:off x="1524000" y="44196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10000"/>
          </a:bodyPr>
          <a:lstStyle/>
          <a:p>
            <a:pPr algn="l"/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생육</a:t>
            </a:r>
            <a:r>
              <a:rPr lang="en-US" altLang="ko-KR" sz="830">
                <a:solidFill>
                  <a:srgbClr val="1E2A39"/>
                </a:solidFill>
                <a:latin typeface="Malgun Gothic"/>
                <a:ea typeface="Malgun Gothic"/>
              </a:rPr>
              <a:t>·</a:t>
            </a:r>
            <a:r>
              <a:rPr lang="ko-KR" altLang="en-US" sz="830">
                <a:solidFill>
                  <a:srgbClr val="1E2A39"/>
                </a:solidFill>
                <a:latin typeface="Malgun Gothic"/>
                <a:ea typeface="Malgun Gothic"/>
              </a:rPr>
              <a:t>환경 데이터를 기간별 그래프로 제공해야 한다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52EFC1-C6B6-4845-8C66-B64B72D97D4C}"/>
              </a:ext>
            </a:extLst>
          </p:cNvPr>
          <p:cNvSpPr/>
          <p:nvPr/>
        </p:nvSpPr>
        <p:spPr>
          <a:xfrm>
            <a:off x="4495800" y="2260600"/>
            <a:ext cx="2565400" cy="311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0F1E60-8F16-4128-A974-0E2FBE39D78C}"/>
              </a:ext>
            </a:extLst>
          </p:cNvPr>
          <p:cNvSpPr/>
          <p:nvPr/>
        </p:nvSpPr>
        <p:spPr>
          <a:xfrm>
            <a:off x="4495800" y="2260600"/>
            <a:ext cx="2565400" cy="304800"/>
          </a:xfrm>
          <a:prstGeom prst="rect">
            <a:avLst/>
          </a:prstGeom>
          <a:solidFill>
            <a:srgbClr val="78A91C"/>
          </a:solidFill>
          <a:ln w="12700" cap="flat" cmpd="sng" algn="ctr">
            <a:solidFill>
              <a:srgbClr val="78A91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97E266-35A6-4DF0-A2C5-846167751243}"/>
              </a:ext>
            </a:extLst>
          </p:cNvPr>
          <p:cNvSpPr txBox="1"/>
          <p:nvPr/>
        </p:nvSpPr>
        <p:spPr>
          <a:xfrm>
            <a:off x="4648200" y="23241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8CA263-B905-436F-A198-063966AEA81D}"/>
              </a:ext>
            </a:extLst>
          </p:cNvPr>
          <p:cNvSpPr txBox="1"/>
          <p:nvPr/>
        </p:nvSpPr>
        <p:spPr>
          <a:xfrm>
            <a:off x="4673600" y="2717800"/>
            <a:ext cx="21844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NFR-01 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센서 데이터 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5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분 단위 수집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NFR-02 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모바일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/PC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동일 기능 제공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NFR-03 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장애 발생 시 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1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분 내 알림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NFR-04 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사용자 권한별 접근 제한
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NFR-05  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제어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/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알림 이력 </a:t>
            </a:r>
            <a:r>
              <a:rPr lang="en-US" altLang="ko-KR" sz="820">
                <a:solidFill>
                  <a:srgbClr val="1E2A39"/>
                </a:solidFill>
                <a:latin typeface="Malgun Gothic"/>
                <a:ea typeface="Malgun Gothic"/>
              </a:rPr>
              <a:t>1</a:t>
            </a:r>
            <a:r>
              <a:rPr lang="ko-KR" altLang="en-US" sz="820">
                <a:solidFill>
                  <a:srgbClr val="1E2A39"/>
                </a:solidFill>
                <a:latin typeface="Malgun Gothic"/>
                <a:ea typeface="Malgun Gothic"/>
              </a:rPr>
              <a:t>년 보관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99A270-BB9E-421F-B702-8BC0A319EBD8}"/>
              </a:ext>
            </a:extLst>
          </p:cNvPr>
          <p:cNvSpPr/>
          <p:nvPr/>
        </p:nvSpPr>
        <p:spPr>
          <a:xfrm>
            <a:off x="7213600" y="2260600"/>
            <a:ext cx="1498600" cy="3111500"/>
          </a:xfrm>
          <a:prstGeom prst="rect">
            <a:avLst/>
          </a:prstGeom>
          <a:solidFill>
            <a:srgbClr val="F3F8EA"/>
          </a:solidFill>
          <a:ln w="12700" cap="flat" cmpd="sng" algn="ctr">
            <a:solidFill>
              <a:srgbClr val="9CC6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811FFC-B8BA-42BB-B855-34F2D8EDAACF}"/>
              </a:ext>
            </a:extLst>
          </p:cNvPr>
          <p:cNvSpPr txBox="1"/>
          <p:nvPr/>
        </p:nvSpPr>
        <p:spPr>
          <a:xfrm>
            <a:off x="7340600" y="2387600"/>
            <a:ext cx="116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920" b="1">
                <a:solidFill>
                  <a:srgbClr val="1E3568"/>
                </a:solidFill>
                <a:latin typeface="Malgun Gothic"/>
                <a:ea typeface="Malgun Gothic"/>
              </a:rPr>
              <a:t>검수 기준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B7ADFE-8841-4286-A471-861331833CB8}"/>
              </a:ext>
            </a:extLst>
          </p:cNvPr>
          <p:cNvSpPr txBox="1"/>
          <p:nvPr/>
        </p:nvSpPr>
        <p:spPr>
          <a:xfrm>
            <a:off x="7340600" y="2768600"/>
            <a:ext cx="11684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테스트 계정으로 데이터 조회 확인
</a:t>
            </a:r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임계값 초과 시 알림 수신 확인
</a:t>
            </a:r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제어 명령 후 장비 상태 변경 확인
</a:t>
            </a:r>
            <a:r>
              <a:rPr lang="en-US" altLang="ko-KR" sz="720">
                <a:solidFill>
                  <a:srgbClr val="1E2A39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720">
                <a:solidFill>
                  <a:srgbClr val="1E2A39"/>
                </a:solidFill>
                <a:latin typeface="Malgun Gothic"/>
                <a:ea typeface="Malgun Gothic"/>
              </a:rPr>
              <a:t>요구사항별 우선순위와 담당자 지정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6D6549-FEC1-49F6-ADAA-43C19706844B}"/>
              </a:ext>
            </a:extLst>
          </p:cNvPr>
          <p:cNvSpPr/>
          <p:nvPr/>
        </p:nvSpPr>
        <p:spPr>
          <a:xfrm>
            <a:off x="723900" y="5689600"/>
            <a:ext cx="7696200" cy="533400"/>
          </a:xfrm>
          <a:prstGeom prst="rect">
            <a:avLst/>
          </a:prstGeom>
          <a:solidFill>
            <a:srgbClr val="EFF5FF"/>
          </a:solidFill>
          <a:ln w="12700" cap="flat" cmpd="sng" algn="ctr">
            <a:solidFill>
              <a:srgbClr val="A8BE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4B849-5253-444C-92C4-64D8A2C79B43}"/>
              </a:ext>
            </a:extLst>
          </p:cNvPr>
          <p:cNvSpPr txBox="1"/>
          <p:nvPr/>
        </p:nvSpPr>
        <p:spPr>
          <a:xfrm>
            <a:off x="965200" y="5842000"/>
            <a:ext cx="721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요구사항 → 기능</a:t>
            </a:r>
            <a:r>
              <a:rPr lang="en-US" altLang="ko-KR" sz="1000" b="1">
                <a:solidFill>
                  <a:srgbClr val="1E3568"/>
                </a:solidFill>
                <a:latin typeface="Malgun Gothic"/>
                <a:ea typeface="Malgun Gothic"/>
              </a:rPr>
              <a:t>/</a:t>
            </a:r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품질 조건 확정 → 설계</a:t>
            </a:r>
            <a:r>
              <a:rPr lang="en-US" altLang="ko-KR" sz="1000" b="1">
                <a:solidFill>
                  <a:srgbClr val="1E3568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개발</a:t>
            </a:r>
            <a:r>
              <a:rPr lang="en-US" altLang="ko-KR" sz="1000" b="1">
                <a:solidFill>
                  <a:srgbClr val="1E3568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 b="1">
                <a:solidFill>
                  <a:srgbClr val="1E3568"/>
                </a:solidFill>
                <a:latin typeface="Malgun Gothic"/>
                <a:ea typeface="Malgun Gothic"/>
              </a:rPr>
              <a:t>검수 기준으로 사용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74CFAF-9955-4707-A2F8-93028BEC5E4D}"/>
              </a:ext>
            </a:extLst>
          </p:cNvPr>
          <p:cNvSpPr txBox="1"/>
          <p:nvPr/>
        </p:nvSpPr>
        <p:spPr>
          <a:xfrm>
            <a:off x="914400" y="6451600"/>
            <a:ext cx="723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ko-KR" altLang="en-US" sz="1050" b="1">
                <a:solidFill>
                  <a:srgbClr val="4C650F"/>
                </a:solidFill>
                <a:latin typeface="Malgun Gothic"/>
                <a:ea typeface="Malgun Gothic"/>
              </a:rPr>
              <a:t>핵심</a:t>
            </a:r>
            <a:r>
              <a:rPr lang="en-US" altLang="ko-KR" sz="1050" b="1">
                <a:solidFill>
                  <a:srgbClr val="4C650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050" b="1">
                <a:solidFill>
                  <a:srgbClr val="4C650F"/>
                </a:solidFill>
                <a:latin typeface="Malgun Gothic"/>
                <a:ea typeface="Malgun Gothic"/>
              </a:rPr>
              <a:t>요구사항 정의서는 “만들 기능과 조건”을 확정한다</a:t>
            </a:r>
            <a:r>
              <a:rPr lang="en-US" altLang="ko-KR" sz="1050" b="1">
                <a:solidFill>
                  <a:srgbClr val="4C650F"/>
                </a:solidFill>
                <a:latin typeface="Malgun Gothic"/>
                <a:ea typeface="Malgun Gothic"/>
              </a:rPr>
              <a:t>.</a:t>
            </a:r>
            <a:endParaRPr lang="ko-KR" altLang="en-US" sz="1050" b="1">
              <a:solidFill>
                <a:srgbClr val="4C650F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6093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14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622" name="Google Shape;622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3" name="Google Shape;623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24" name="Google Shape;624;p1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1" name="Google Shape;631;p1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632" name="Google Shape;632;p14" descr="스토리 핀 이미지"/>
          <p:cNvPicPr preferRelativeResize="0">
            <a:picLocks noGrp="1"/>
          </p:cNvPicPr>
          <p:nvPr>
            <p:ph type="body" idx="1"/>
          </p:nvPr>
        </p:nvPicPr>
        <p:blipFill rotWithShape="1">
          <a:blip>
            <a:alphaModFix/>
          </a:blip>
          <a:srcRect l="31818" t="5315" b="3776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4"/>
          <p:cNvSpPr/>
          <p:nvPr/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dk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35" name="Google Shape;635;p14"/>
          <p:cNvCxnSpPr/>
          <p:nvPr/>
        </p:nvCxnSpPr>
        <p:spPr>
          <a:xfrm>
            <a:off x="7028259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6" name="Google Shape;636;p14"/>
          <p:cNvCxnSpPr/>
          <p:nvPr/>
        </p:nvCxnSpPr>
        <p:spPr>
          <a:xfrm flipH="1">
            <a:off x="5568950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7" name="Google Shape;637;p14"/>
          <p:cNvSpPr/>
          <p:nvPr/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9" name="Google Shape;639;p14"/>
          <p:cNvSpPr/>
          <p:nvPr/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0" name="Google Shape;640;p14"/>
          <p:cNvSpPr txBox="1"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</a:pPr>
            <a:r>
              <a:rPr lang="ko-KR" sz="3000"/>
              <a:t>시스템 아키텍쳐설계</a:t>
            </a:r>
            <a:br>
              <a:rPr lang="ko-KR" sz="3000"/>
            </a:br>
            <a:r>
              <a:rPr lang="ko-KR" sz="3000"/>
              <a:t>(system architecture configuration) </a:t>
            </a:r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ftr" idx="11"/>
          </p:nvPr>
        </p:nvSpPr>
        <p:spPr>
          <a:xfrm>
            <a:off x="3069300" y="6041362"/>
            <a:ext cx="3016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  <p:sp>
        <p:nvSpPr>
          <p:cNvPr id="642" name="Google Shape;642;p14"/>
          <p:cNvSpPr/>
          <p:nvPr/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4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51" name="Google Shape;651;p1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1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3" name="Google Shape;653;p1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54" name="Google Shape;654;p1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5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 구성도</a:t>
            </a:r>
            <a:r>
              <a:rPr lang="ko-KR" sz="10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ko-KR" sz="16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lang="ko-KR" sz="10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 시나리오</a:t>
            </a:r>
            <a:endParaRPr sz="1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None/>
            </a:pPr>
            <a:endParaRPr sz="10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56" name="Google Shape;656;p1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44900" y="1528968"/>
            <a:ext cx="8454200" cy="4636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16"/>
          <p:cNvPicPr preferRelativeResize="0"/>
          <p:nvPr/>
        </p:nvPicPr>
        <p:blipFill rotWithShape="1">
          <a:blip>
            <a:alphaModFix/>
          </a:blip>
          <a:srcRect t="6681" r="8503" b="6491"/>
          <a:stretch/>
        </p:blipFill>
        <p:spPr>
          <a:xfrm>
            <a:off x="240064" y="1352628"/>
            <a:ext cx="4139952" cy="5032896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63" name="Google Shape;663;p16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4" name="Google Shape;664;p16"/>
          <p:cNvCxnSpPr/>
          <p:nvPr/>
        </p:nvCxnSpPr>
        <p:spPr>
          <a:xfrm>
            <a:off x="3275856" y="556153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5" name="Google Shape;665;p16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 구성도</a:t>
            </a:r>
            <a:r>
              <a:rPr lang="ko-KR" sz="10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ko-KR" sz="16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– 시스템 계층</a:t>
            </a:r>
            <a:endParaRPr sz="10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6" name="Google Shape;666;p16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4427984" y="1640659"/>
            <a:ext cx="4291660" cy="438062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8" name="Google Shape;668;p16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6"/>
          <p:cNvSpPr txBox="1"/>
          <p:nvPr/>
        </p:nvSpPr>
        <p:spPr>
          <a:xfrm>
            <a:off x="4468260" y="1848552"/>
            <a:ext cx="454318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시스템은 총 9개 계층으로 구성됨.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1.물리/필드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딸기 작물, 화분, 레일 등 실제 농장 환경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2.로봇/제어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자율주행 로봇과 로봇 팔을 제어한다.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3.센서/수집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카메라와 센서로 이미지와 위치 정보를 수집.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4.인식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QR코드를 통해 화분 ID를 식별.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5.AI 분석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작물 이미지를 분석하여 병해충 여부를 판단.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6.데이터/저장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분석 결과와 작업 이력을 DB에 저장.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7.응용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자동 관리 사이클과 작업 로직을 처리.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8.서비스/관제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웹/모바일 화면으로 상태를 시각화.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9.사용자 계층 -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관리자가 확인과 의사결정을 수행.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75" name="Google Shape;675;p1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6" name="Google Shape;676;p1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7" name="Google Shape;677;p17"/>
          <p:cNvSpPr txBox="1"/>
          <p:nvPr/>
        </p:nvSpPr>
        <p:spPr>
          <a:xfrm>
            <a:off x="107504" y="731344"/>
            <a:ext cx="3096344" cy="24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 흐름도 - DATA FLOW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8" name="Google Shape;678;p1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79" name="Google Shape;679;p17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17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618464" y="1314892"/>
            <a:ext cx="7907071" cy="5271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86" name="Google Shape;686;p1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7" name="Google Shape;687;p1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8" name="Google Shape;688;p18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참조-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환경 및 설명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9" name="Google Shape;689;p1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690" name="Google Shape;690;p18"/>
          <p:cNvGraphicFramePr/>
          <p:nvPr/>
        </p:nvGraphicFramePr>
        <p:xfrm>
          <a:off x="450882" y="1268760"/>
          <a:ext cx="8242225" cy="4857668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82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항목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적용내역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75">
                <a:tc rowSpan="1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H/W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구성장비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691" name="Google Shape;691;p18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97" name="Google Shape;697;p1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8" name="Google Shape;698;p1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9" name="Google Shape;699;p19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참조-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환경 및 설명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" name="Google Shape;700;p1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701" name="Google Shape;701;p19"/>
          <p:cNvGraphicFramePr/>
          <p:nvPr/>
        </p:nvGraphicFramePr>
        <p:xfrm>
          <a:off x="450882" y="1268760"/>
          <a:ext cx="8242225" cy="4857668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82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항목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적용내역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75">
                <a:tc rowSpan="1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H/W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구성장비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1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702" name="Google Shape;702;p1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08" name="Google Shape;708;p2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2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0" name="Google Shape;710;p20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참조-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환경 및 설명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1" name="Google Shape;711;p2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712" name="Google Shape;712;p20"/>
          <p:cNvGraphicFramePr/>
          <p:nvPr/>
        </p:nvGraphicFramePr>
        <p:xfrm>
          <a:off x="251520" y="1302602"/>
          <a:ext cx="8666125" cy="5263579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86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5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항목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적용내역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25"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S/W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개발환경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SDK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공동 개발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VSCode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본 프로젝트에서는 소스코드 작성과 프로젝트 파일 관리를 위해 VSCode를 사용한다. </a:t>
                      </a:r>
                      <a:endParaRPr sz="1000" u="none" strike="noStrike" cap="none"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 VSCode는   다양한 프로그래밍 언어를 지원하며, Python, Arduino, HTML, JavaScript 등 프로젝트에 필요한 여러 개발 환경을 하나의 편집기에서 관리할 수 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Git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ko-KR" sz="1000" u="none" strike="noStrike" cap="none"/>
                        <a:t>소스코드와 프로젝트 파일을 관리한다. Git은 코드의 변경 이력을 저장할 수 있어, </a:t>
                      </a:r>
                      <a:endParaRPr sz="1000" u="none" strike="noStrike" cap="none"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 개발 과정에서 어떤 부분이 수정되었는지 쉽게 확인할 수 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Uduntu 18.04 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ko-KR" sz="1000" u="none" strike="noStrike" cap="none"/>
                        <a:t>개발 환경 구축이 비교적 안정적이고, 오픈소스 도구와의 호환성이 좋아 Git, Python, AI 모델,</a:t>
                      </a:r>
                      <a:endParaRPr sz="1000" u="none" strike="noStrike" cap="none"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서버 관련 프로그램을 사용하기에 적합하다.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Python 3.11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AWS 서버와 Jetson 로봇 에이전트의 주 개발 언어입니다.</a:t>
                      </a:r>
                      <a:endParaRPr sz="1000" u="none" strike="noStrike" cap="none"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AWS_SYSTEM에서는 FastAPI 서버를 돌리고, JETSON_ROBOT에서는 카메라 입력, AWS 통신,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Arduino 시리얼 통신을 처리합니다.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FastAPI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AWS 쪽 로봇 작업 API 서버를 만드는 프레임워크입니다.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로봇 작업 등록, 다음 작업 전달, 작업 결과 저장, 비전 이벤트 저장 같은 REST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API를 제공합니다.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 Uvicorn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FastAPI 앱을 실제로 실행하는 Python 웹 서버입니다.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로컬에서는 http://localhost:8000으로 API와 대시보드를 띄우는 역할입니다.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3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Pydantic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API에서 주고받는 데이터 형식을 검증합니다.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예를 들어 robot_id, execute_task, move_sign, completion_sign 같은 값들이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정해진 구조로 들어오는지 확인합니다.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13" name="Google Shape;713;p20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19" name="Google Shape;719;p2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0" name="Google Shape;720;p2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1" name="Google Shape;721;p21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참조-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환경 및 설명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2" name="Google Shape;722;p2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723" name="Google Shape;723;p21"/>
          <p:cNvGraphicFramePr/>
          <p:nvPr/>
        </p:nvGraphicFramePr>
        <p:xfrm>
          <a:off x="251520" y="1268761"/>
          <a:ext cx="8640950" cy="5281003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82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항목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적용내역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325"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S/W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개발환경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/>
                        <a:t>AWS_SYSTEM 서버</a:t>
                      </a: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애플리케이션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개발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boto3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Python에서 AWS 서비스를 쓰기 위한 SDK입니다.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현재 구조에서는 AWS 배포 시 DynamoDB에 작업/응답/비전 이벤트를 저장하는 데 사용됩니다.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Docker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AWS 서버를 컨테이너 이미지로 포장하는 도구입니다.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AWS_SYSTEM FastAPI 서버를 ECS Fargate에 올릴 수 있는 실행 단위로 만듭니다.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Terraform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AWS 인프라를 코드로 만드는 도구입니다.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VPC, Subnet, Load Balancer, ECS Fargate, DynamoDB, IAM, CloudWatch 같은 리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소스를 자동 생성합니다.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AWS CLI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터미널에서 AWS 계정과 ECR/ECS 등을 조작하는 도구입니다.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Docker 이미지를 ECR에 로그인해서 push하거나 배포 준비를 할 때 필요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AWS ECR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Docker 이미지를 저장하는 AWS 컨테이너 저장소입니다.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FastAPI 서버 이미지를 올려두고 ECS가 그 이미지를 가져가 실행합니다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3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AWS ECS Fargate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Docker 컨테이너를 서버 없이 실행하는 AWS 서비스입니다.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현재 FastAPI API 서버를 클라우드에서 계속 실행시키는 역할입니다.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2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Node.js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기존 jetson_greenhouse_system/ 대시보드 서버를 실행하는 런타임입니다.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FastAPI와 별도로 Express 기반 모니터링 서버가 구현되어 있습니다.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24" name="Google Shape;724;p2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30" name="Google Shape;730;p2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1" name="Google Shape;731;p2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2" name="Google Shape;732;p2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참조-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환경 및 설명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3" name="Google Shape;733;p2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734" name="Google Shape;734;p22"/>
          <p:cNvGraphicFramePr/>
          <p:nvPr/>
        </p:nvGraphicFramePr>
        <p:xfrm>
          <a:off x="251520" y="1281269"/>
          <a:ext cx="8640975" cy="4837238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82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5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구분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항목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적용내역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75"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S/W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개발환경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DynamoDB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AWS에서 사용하는 NoSQL 데이터베이스입니다.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로봇 작업, 응답, 비전 이벤트를 운영 환경에서 저장합니다.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6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JETSON NANO 애플리케이션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개발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OpenCV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 Nano에서 CSI 카메라 영상을 읽고 기본 비전 처리를 하는 도구입니다.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현재는 YOLO 대신 가장 큰 윤곽선을 찾아 물체 중심 좌표를 만드는 데 사용됩니다.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1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v4l-utils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Jetson에서 카메라 장치 상태를 확인하는 리눅스 도구입니다.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/dev/video0 같은 CSI 카메라가 정상 인식되는지 확인합니다.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pyserial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Jetson과 Arduino Mega가 USB 시리얼로 통신할 때 쓰는 Python 라이브러리입니다.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Jetson이 JSON 명령을 Arduino로 보내고, Arduino 응답을 읽습니다.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1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Arduino IDE / Arduino CLI</a:t>
                      </a:r>
                      <a:endParaRPr/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Arduino Mega에 제어 코드를 업로드하는 개발도구입니다.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Jetson에서 온 JSON 명령을 받아 모터, 그리퍼, 센서 제어 코드로 연결하는 역할입니다.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6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systemd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 부팅 시 로봇 에이전트를 자동 실행하는 리눅스 서비스 관리자입니다.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strew-robot-agent.service가 이 역할을 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3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Express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Node.js 기반 웹 API 서버 프레임워크입니다.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기존 대시보드에서 /api/dashboard, /api/readings, /api/randomize 같은 API를 제공합니다.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36000" marR="36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35" name="Google Shape;735;p2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23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741" name="Google Shape;741;p2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43" name="Google Shape;743;p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4" name="Google Shape;744;p2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6" name="Google Shape;746;p2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7" name="Google Shape;747;p2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8" name="Google Shape;748;p2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9" name="Google Shape;749;p2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50" name="Google Shape;750;p23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751" name="Google Shape;751;p23"/>
          <p:cNvPicPr preferRelativeResize="0"/>
          <p:nvPr/>
        </p:nvPicPr>
        <p:blipFill rotWithShape="1">
          <a:blip>
            <a:alphaModFix/>
          </a:blip>
          <a:srcRect l="9091" t="20579" r="-1" b="34079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3"/>
          <p:cNvSpPr/>
          <p:nvPr/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dk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54" name="Google Shape;754;p23"/>
          <p:cNvCxnSpPr/>
          <p:nvPr/>
        </p:nvCxnSpPr>
        <p:spPr>
          <a:xfrm>
            <a:off x="7028259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5" name="Google Shape;755;p23"/>
          <p:cNvCxnSpPr/>
          <p:nvPr/>
        </p:nvCxnSpPr>
        <p:spPr>
          <a:xfrm flipH="1">
            <a:off x="5568950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6" name="Google Shape;756;p23"/>
          <p:cNvSpPr/>
          <p:nvPr/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9" name="Google Shape;759;p23"/>
          <p:cNvSpPr txBox="1"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</a:pPr>
            <a:r>
              <a:rPr lang="ko-KR" sz="3000"/>
              <a:t> 하드웨어 기능 설계 </a:t>
            </a:r>
            <a:br>
              <a:rPr lang="ko-KR" sz="3000"/>
            </a:br>
            <a:r>
              <a:rPr lang="ko-KR" sz="3000"/>
              <a:t>( Hardware funtion design</a:t>
            </a:r>
            <a:br>
              <a:rPr lang="ko-KR" sz="3000"/>
            </a:br>
            <a:r>
              <a:rPr lang="ko-KR" sz="3000"/>
              <a:t>)</a:t>
            </a:r>
            <a:endParaRPr/>
          </a:p>
        </p:txBody>
      </p:sp>
      <p:sp>
        <p:nvSpPr>
          <p:cNvPr id="760" name="Google Shape;760;p23"/>
          <p:cNvSpPr txBox="1">
            <a:spLocks noGrp="1"/>
          </p:cNvSpPr>
          <p:nvPr>
            <p:ph type="ftr" idx="11"/>
          </p:nvPr>
        </p:nvSpPr>
        <p:spPr>
          <a:xfrm>
            <a:off x="3069300" y="6041362"/>
            <a:ext cx="3016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  <p:sp>
        <p:nvSpPr>
          <p:cNvPr id="761" name="Google Shape;761;p23"/>
          <p:cNvSpPr/>
          <p:nvPr/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4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70" name="Google Shape;770;p2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1" name="Google Shape;771;p2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2" name="Google Shape;772;p2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4" name="Google Shape;774;p24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24"/>
          <p:cNvSpPr txBox="1"/>
          <p:nvPr/>
        </p:nvSpPr>
        <p:spPr>
          <a:xfrm>
            <a:off x="323528" y="692696"/>
            <a:ext cx="3096344" cy="31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참조-H/W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기능 실사 사진</a:t>
            </a:r>
            <a:endParaRPr sz="1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6" name="Google Shape;776;p24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467544" y="1665939"/>
            <a:ext cx="6624736" cy="278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82" name="Google Shape;782;p2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3" name="Google Shape;783;p2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4" name="Google Shape;784;p2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222256" y="1473901"/>
            <a:ext cx="8454200" cy="512345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86" name="Google Shape;786;p2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5"/>
          <p:cNvSpPr txBox="1"/>
          <p:nvPr/>
        </p:nvSpPr>
        <p:spPr>
          <a:xfrm>
            <a:off x="323528" y="692696"/>
            <a:ext cx="3096344" cy="31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참조-H/W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기능 실사 사진</a:t>
            </a:r>
            <a:endParaRPr sz="1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88" name="Google Shape;788;p2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517201" y="1788106"/>
            <a:ext cx="4054799" cy="440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94" name="Google Shape;794;p26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5" name="Google Shape;795;p26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6" name="Google Shape;796;p26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7" name="Google Shape;797;p26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6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01" name="Google Shape;801;p26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07" name="Google Shape;807;p2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8" name="Google Shape;808;p2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9" name="Google Shape;809;p27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10" name="Google Shape;810;p27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2" name="Google Shape;812;p2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14" name="Google Shape;814;p27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20" name="Google Shape;820;p2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1" name="Google Shape;821;p2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2" name="Google Shape;822;p28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23" name="Google Shape;823;p28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2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6" name="Google Shape;826;p28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27" name="Google Shape;827;p28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33" name="Google Shape;833;p2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4" name="Google Shape;834;p2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5" name="Google Shape;835;p29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36" name="Google Shape;836;p29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2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40" name="Google Shape;840;p2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46" name="Google Shape;846;p3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7" name="Google Shape;847;p3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8" name="Google Shape;848;p30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49" name="Google Shape;849;p30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3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1" name="Google Shape;851;p3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2" name="Google Shape;852;p30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53" name="Google Shape;853;p30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59" name="Google Shape;859;p3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0" name="Google Shape;860;p3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1" name="Google Shape;861;p31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62" name="Google Shape;862;p31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3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4" name="Google Shape;864;p3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5" name="Google Shape;865;p31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66" name="Google Shape;866;p3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72" name="Google Shape;872;p3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3" name="Google Shape;873;p3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4" name="Google Shape;874;p32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설계도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5" name="Google Shape;875;p32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3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7" name="Google Shape;877;p3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8" name="Google Shape;878;p32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496536" y="1564377"/>
            <a:ext cx="8407400" cy="3611612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32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80" name="Google Shape;880;p3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86" name="Google Shape;886;p3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7" name="Google Shape;887;p3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8" name="Google Shape;888;p33"/>
          <p:cNvSpPr txBox="1"/>
          <p:nvPr/>
        </p:nvSpPr>
        <p:spPr>
          <a:xfrm>
            <a:off x="323528" y="692697"/>
            <a:ext cx="2952328" cy="19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하드웨어/센서 구성도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89" name="Google Shape;889;p33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3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1" name="Google Shape;891;p33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3" marR="0" lvl="0" indent="-265113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샘플 1</a:t>
            </a:r>
            <a:endParaRPr sz="1600" b="1" i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892" name="Google Shape;892;p33"/>
          <p:cNvGraphicFramePr/>
          <p:nvPr/>
        </p:nvGraphicFramePr>
        <p:xfrm>
          <a:off x="5600837" y="863712"/>
          <a:ext cx="3185700" cy="413757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67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 u="none" strike="noStrike" cap="none">
                          <a:solidFill>
                            <a:srgbClr val="000000"/>
                          </a:solidFill>
                        </a:rPr>
                        <a:t>센서 종류</a:t>
                      </a:r>
                      <a:endParaRPr sz="9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 u="none" strike="noStrike" cap="none">
                          <a:solidFill>
                            <a:srgbClr val="000000"/>
                          </a:solidFill>
                        </a:rPr>
                        <a:t>연결 핀 </a:t>
                      </a:r>
                      <a:endParaRPr sz="9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 sz="9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5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Neopixel Ring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아두이노의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VCC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아두이노의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3.3V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50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TSL2561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아두이노의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VCC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아두이노의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3.3V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SDA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A5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SCL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A4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500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Relay module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VCC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아두이노의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5V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아두이노의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IN1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IN2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IN3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IN4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5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DHT11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VCC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3.3V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아두이노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번 핀에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5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물주기 모터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GND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트랜지스터와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VCC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5461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아두이노의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5V</a:t>
                      </a:r>
                      <a:r>
                        <a:rPr lang="ko-KR" sz="900" u="none" strike="noStrike" cap="none">
                          <a:solidFill>
                            <a:srgbClr val="000000"/>
                          </a:solidFill>
                        </a:rPr>
                        <a:t>에 연결</a:t>
                      </a:r>
                      <a:endParaRPr sz="9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58275" marR="58275" marT="16100" marB="16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893" name="Google Shape;893;p33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98137" y="1370224"/>
            <a:ext cx="4993943" cy="4014804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3"/>
          <p:cNvSpPr/>
          <p:nvPr/>
        </p:nvSpPr>
        <p:spPr>
          <a:xfrm>
            <a:off x="445950" y="6445176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※ 본문의 예시 내용을 지우고 과제 내용으로 변경하여 사용하세요</a:t>
            </a:r>
            <a:endParaRPr/>
          </a:p>
        </p:txBody>
      </p:sp>
      <p:pic>
        <p:nvPicPr>
          <p:cNvPr id="895" name="Google Shape;895;p33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900;p34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901" name="Google Shape;901;p3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2" name="Google Shape;902;p3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03" name="Google Shape;903;p3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911" name="Google Shape;911;p34"/>
          <p:cNvPicPr preferRelativeResize="0"/>
          <p:nvPr/>
        </p:nvPicPr>
        <p:blipFill rotWithShape="1">
          <a:blip>
            <a:alphaModFix/>
          </a:blip>
          <a:srcRect l="19091" t="6626" b="2466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34"/>
          <p:cNvSpPr/>
          <p:nvPr/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3" name="Google Shape;913;p34"/>
          <p:cNvSpPr/>
          <p:nvPr/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dk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14" name="Google Shape;914;p34"/>
          <p:cNvCxnSpPr/>
          <p:nvPr/>
        </p:nvCxnSpPr>
        <p:spPr>
          <a:xfrm>
            <a:off x="7028259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5" name="Google Shape;915;p34"/>
          <p:cNvCxnSpPr/>
          <p:nvPr/>
        </p:nvCxnSpPr>
        <p:spPr>
          <a:xfrm flipH="1">
            <a:off x="5568950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6" name="Google Shape;916;p34"/>
          <p:cNvSpPr/>
          <p:nvPr/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7" name="Google Shape;917;p34"/>
          <p:cNvSpPr/>
          <p:nvPr/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9" name="Google Shape;919;p34"/>
          <p:cNvSpPr txBox="1">
            <a:spLocks noGrp="1"/>
          </p:cNvSpPr>
          <p:nvPr>
            <p:ph type="title"/>
          </p:nvPr>
        </p:nvSpPr>
        <p:spPr>
          <a:xfrm>
            <a:off x="3528150" y="1678665"/>
            <a:ext cx="3754084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Trebuchet MS"/>
              <a:buNone/>
            </a:pPr>
            <a:r>
              <a:rPr lang="ko-KR" sz="4600"/>
              <a:t>데이터 베이스 설계 </a:t>
            </a:r>
            <a:br>
              <a:rPr lang="ko-KR" sz="4600"/>
            </a:br>
            <a:r>
              <a:rPr lang="ko-KR" sz="4600"/>
              <a:t>(DATABASE)</a:t>
            </a:r>
            <a:endParaRPr/>
          </a:p>
        </p:txBody>
      </p:sp>
      <p:sp>
        <p:nvSpPr>
          <p:cNvPr id="920" name="Google Shape;920;p34"/>
          <p:cNvSpPr txBox="1">
            <a:spLocks noGrp="1"/>
          </p:cNvSpPr>
          <p:nvPr>
            <p:ph type="ftr" idx="11"/>
          </p:nvPr>
        </p:nvSpPr>
        <p:spPr>
          <a:xfrm>
            <a:off x="3069300" y="6041362"/>
            <a:ext cx="3016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  <p:sp>
        <p:nvSpPr>
          <p:cNvPr id="921" name="Google Shape;921;p34"/>
          <p:cNvSpPr/>
          <p:nvPr/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4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2" name="Google Shape;922;p34"/>
          <p:cNvSpPr/>
          <p:nvPr/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3" name="Google Shape;923;p34"/>
          <p:cNvSpPr/>
          <p:nvPr/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4" name="Google Shape;924;p34"/>
          <p:cNvSpPr/>
          <p:nvPr/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30" name="Google Shape;930;p3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1" name="Google Shape;931;p3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2" name="Google Shape;932;p35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엔티티 관계도 -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3" name="Google Shape;933;p3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4" name="Google Shape;934;p3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35" name="Google Shape;935;p3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6" name="Google Shape;936;p35"/>
          <p:cNvGraphicFramePr/>
          <p:nvPr/>
        </p:nvGraphicFramePr>
        <p:xfrm>
          <a:off x="4104375" y="1876917"/>
          <a:ext cx="4899575" cy="411272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73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테이블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역할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cells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재배 셀 정보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thresholds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온도, 습도, 수액량 기준값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sensor_logs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ESP32에서 AWS로 들어온 센서 데이터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ai_readings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AI 분석 결과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approvals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관리자 승인 요청 및 승인 결과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robot_tasks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AWS에서 Jetson Nano로 내려보낼 작업명령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robot_feedback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Jetson Nano가 AWS로 보내는 작업 진행 결과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system_events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오류, 경고, ESTOP, 시스템 이벤트</a:t>
                      </a:r>
                      <a:endParaRPr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lang="ko-KR" sz="14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system_settings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u="none" strike="noStrike" cap="none"/>
                        <a:t>시스템 설정값</a:t>
                      </a:r>
                      <a:endParaRPr sz="1400" u="none" strike="noStrike" cap="none"/>
                    </a:p>
                  </a:txBody>
                  <a:tcPr marL="70575" marR="70575" marT="35275" marB="3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937" name="Google Shape;937;p3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40045" y="1970541"/>
            <a:ext cx="3756243" cy="3762715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35"/>
          <p:cNvSpPr txBox="1">
            <a:spLocks noGrp="1"/>
          </p:cNvSpPr>
          <p:nvPr>
            <p:ph type="title"/>
          </p:nvPr>
        </p:nvSpPr>
        <p:spPr>
          <a:xfrm>
            <a:off x="3419872" y="831534"/>
            <a:ext cx="3631059" cy="721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ko-KR"/>
              <a:t>전체데이터 구조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44" name="Google Shape;944;p36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5" name="Google Shape;945;p36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6" name="Google Shape;946;p36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7" name="Google Shape;947;p36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8" name="Google Shape;948;p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49" name="Google Shape;949;p36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36"/>
          <p:cNvPicPr preferRelativeResize="0"/>
          <p:nvPr/>
        </p:nvPicPr>
        <p:blipFill rotWithShape="1">
          <a:blip>
            <a:alphaModFix/>
          </a:blip>
          <a:srcRect l="5156" t="41096" r="72624" b="31332"/>
          <a:stretch/>
        </p:blipFill>
        <p:spPr>
          <a:xfrm>
            <a:off x="259176" y="1484784"/>
            <a:ext cx="3736760" cy="4644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1" name="Google Shape;951;p36"/>
          <p:cNvGraphicFramePr/>
          <p:nvPr/>
        </p:nvGraphicFramePr>
        <p:xfrm>
          <a:off x="4250768" y="1628759"/>
          <a:ext cx="4608525" cy="430607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41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컬럼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역할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id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셀 데이터의 고유 번호입니다. 기본키(PK)로 사용됩니다.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cell_id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실제 식물공장 내 셀 번호를 의미합니다. 예: 1번 셀 ~ 4번 셀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location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셀이 위치한 장소 또는 구역 정보입니다.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PLANT_ID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셀에 보식된 식물의 식별 ID입니다.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is_active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셀 사용 여부를 나타냅니다.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lang="ko-KR" sz="1000" u="none" strike="noStrike" cap="none"/>
                        <a:t>이면 활성 셀,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r>
                        <a:rPr lang="ko-KR" sz="1000" u="none" strike="noStrike" cap="none"/>
                        <a:t>이면 비활성 셀입니다.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CREATED_DATE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셀 데이터가 처음 생성된 날짜와 시간입니다.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RE_PLANT_DATE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식물이 보식된 날짜입니다. 성장률 계산 기준으로 사용할 수 있습니다.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GROWTH_RATE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셀 식물의 현재 성장률입니다.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2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AVG_growth_rate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셀의 평균 성장률입니다. 전체 생산성 계산에 활용됩니다.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57" name="Google Shape;957;p3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8" name="Google Shape;958;p3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9" name="Google Shape;959;p37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0" name="Google Shape;960;p3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1" name="Google Shape;961;p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2" name="Google Shape;962;p37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37"/>
          <p:cNvPicPr preferRelativeResize="0"/>
          <p:nvPr/>
        </p:nvPicPr>
        <p:blipFill rotWithShape="1">
          <a:blip>
            <a:alphaModFix/>
          </a:blip>
          <a:srcRect l="6536" t="12456" r="73674" b="65685"/>
          <a:stretch/>
        </p:blipFill>
        <p:spPr>
          <a:xfrm>
            <a:off x="280340" y="1516432"/>
            <a:ext cx="3671922" cy="40627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4" name="Google Shape;964;p37"/>
          <p:cNvGraphicFramePr/>
          <p:nvPr/>
        </p:nvGraphicFramePr>
        <p:xfrm>
          <a:off x="4190302" y="1484784"/>
          <a:ext cx="4414150" cy="424842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1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컬럼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역할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id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임계값 데이터의 고유 번호입니다.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기본키(PK)로 사용됩니다.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metric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관리할 지표 이름입니다.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(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temperature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humidity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disease_probability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sap_amount_ml)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min_value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지표의 최소 허용값입니다.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이 값보다 낮으면 이상 상태로 판단할 수 있습니다.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max_value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지표의 최대 허용값입니다.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이 값보다 높으면 경고 또는 위험 상태로 판단할 수 있습니다.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unit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지표의 측정 단위입니다. 예: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℃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ml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enabled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해당 임계값 사용 여부입니다.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lang="ko-KR" sz="1000" u="none" strike="noStrike" cap="none"/>
                        <a:t>이면 사용,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r>
                        <a:rPr lang="ko-KR" sz="1000" u="none" strike="noStrike" cap="none"/>
                        <a:t>이면 미사용입니다.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description</a:t>
                      </a:r>
                      <a:endParaRPr sz="1000" u="none" strike="noStrike" cap="none"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임계값에 대한 설명입니다. 어떤 기준값인지 관리자가 이해할 수 있도록 기록합니다.</a:t>
                      </a:r>
                      <a:endParaRPr/>
                    </a:p>
                  </a:txBody>
                  <a:tcPr marL="50400" marR="50400" marT="25200" marB="2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70" name="Google Shape;970;p3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1" name="Google Shape;971;p3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2" name="Google Shape;972;p38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3" name="Google Shape;973;p3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75" name="Google Shape;975;p38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38"/>
          <p:cNvPicPr preferRelativeResize="0"/>
          <p:nvPr/>
        </p:nvPicPr>
        <p:blipFill rotWithShape="1">
          <a:blip>
            <a:alphaModFix/>
          </a:blip>
          <a:srcRect l="5234" t="72079" r="73696" b="11878"/>
          <a:stretch/>
        </p:blipFill>
        <p:spPr>
          <a:xfrm>
            <a:off x="273572" y="1484784"/>
            <a:ext cx="3722364" cy="33844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7" name="Google Shape;977;p38"/>
          <p:cNvGraphicFramePr/>
          <p:nvPr/>
        </p:nvGraphicFramePr>
        <p:xfrm>
          <a:off x="4139952" y="1484784"/>
          <a:ext cx="4886475" cy="482455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0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컬럼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역할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id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 로그의 고유 번호입니다. 기본키(PK)로 사용됩니다.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event_time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이벤트가 발생한 날짜와 시간입니다.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event_type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 종류입니다. 예: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AI_MODE</a:t>
                      </a:r>
                      <a:r>
                        <a:rPr lang="ko-KR" sz="1600" u="none" strike="noStrike" cap="none"/>
                        <a:t>,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ROBOT_REQUEST</a:t>
                      </a:r>
                      <a:r>
                        <a:rPr lang="ko-KR" sz="1600" u="none" strike="noStrike" cap="none"/>
                        <a:t>,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ERROR</a:t>
                      </a:r>
                      <a:r>
                        <a:rPr lang="ko-KR" sz="1600" u="none" strike="noStrike" cap="none"/>
                        <a:t>,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WARNING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cell_id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특정 셀과 관련된 이벤트일 경우 해당 셀 번호를 저장합니다.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message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 상세 내용입니다. 예: AI 모드 활성화, 로봇 오류 발생, 경고 알림 등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83" name="Google Shape;983;p3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4" name="Google Shape;984;p3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5" name="Google Shape;985;p39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6" name="Google Shape;986;p3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7" name="Google Shape;987;p3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88" name="Google Shape;988;p3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39"/>
          <p:cNvPicPr preferRelativeResize="0"/>
          <p:nvPr/>
        </p:nvPicPr>
        <p:blipFill rotWithShape="1">
          <a:blip>
            <a:alphaModFix/>
          </a:blip>
          <a:srcRect l="35435" t="5610" r="42993" b="76175"/>
          <a:stretch/>
        </p:blipFill>
        <p:spPr>
          <a:xfrm>
            <a:off x="251520" y="1844824"/>
            <a:ext cx="4141330" cy="35029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0" name="Google Shape;990;p39"/>
          <p:cNvGraphicFramePr/>
          <p:nvPr/>
        </p:nvGraphicFramePr>
        <p:xfrm>
          <a:off x="4548798" y="1721404"/>
          <a:ext cx="4477650" cy="388762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98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컬럼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역할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id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 로그의 고유 번호입니다. 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기본키(PK)로 사용됩니다.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event_time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이벤트가 발생한 날짜와 시간입니다.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event_type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 종류입니다. 예: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AI_MODE</a:t>
                      </a:r>
                      <a:r>
                        <a:rPr lang="ko-KR" sz="1600" u="none" strike="noStrike" cap="none"/>
                        <a:t>,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ROBOT_REQUEST</a:t>
                      </a:r>
                      <a:r>
                        <a:rPr lang="ko-KR" sz="1600" u="none" strike="noStrike" cap="none"/>
                        <a:t>,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ERROR</a:t>
                      </a:r>
                      <a:r>
                        <a:rPr lang="ko-KR" sz="1600" u="none" strike="noStrike" cap="none"/>
                        <a:t>, </a:t>
                      </a:r>
                      <a:r>
                        <a:rPr lang="ko-KR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WARNING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cell_id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특정 셀과 관련된 이벤트일 경우 해당 셀 번호를 저장합니다.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b="1" u="none" strike="noStrike" cap="none"/>
                        <a:t>message</a:t>
                      </a:r>
                      <a:endParaRPr sz="1600" u="none" strike="noStrike" cap="none"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ko-KR" sz="1600" u="none" strike="noStrike" cap="none"/>
                        <a:t>이벤트 상세 내용입니다. 예: AI 모드 활성화, 로봇 오류 발생, 경고 알림 등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96" name="Google Shape;996;p4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7" name="Google Shape;997;p4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8" name="Google Shape;998;p40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9" name="Google Shape;999;p4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0" name="Google Shape;1000;p4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1" name="Google Shape;1001;p40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0"/>
          <p:cNvPicPr preferRelativeResize="0"/>
          <p:nvPr/>
        </p:nvPicPr>
        <p:blipFill rotWithShape="1">
          <a:blip>
            <a:alphaModFix/>
          </a:blip>
          <a:srcRect l="34130" t="27323" r="39669" b="42687"/>
          <a:stretch/>
        </p:blipFill>
        <p:spPr>
          <a:xfrm>
            <a:off x="395536" y="1628800"/>
            <a:ext cx="3744416" cy="41376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3" name="Google Shape;1003;p40"/>
          <p:cNvGraphicFramePr/>
          <p:nvPr/>
        </p:nvGraphicFramePr>
        <p:xfrm>
          <a:off x="4499992" y="1543429"/>
          <a:ext cx="4104450" cy="483200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16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컬럼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역할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id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 분석 결과의 고유 번호입니다.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기본키(PK)로 사용됩니다.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cell_id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 분석 대상이 된 식물 셀 번호입니다. 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cells</a:t>
                      </a:r>
                      <a:r>
                        <a:rPr lang="ko-KR" sz="1100" u="none" strike="noStrike" cap="none"/>
                        <a:t> 테이블과 연결됩니다.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sensor_log_id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 분석에 사용된 센서 로그 ID입니다.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sensor_logs</a:t>
                      </a:r>
                      <a:r>
                        <a:rPr lang="ko-KR" sz="1100" u="none" strike="noStrike" cap="none"/>
                        <a:t> 테이블과 연결됩니다.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ai_mode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 판단 모드입니다. 예: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NORMAL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OBSERVE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NUTRITION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detected_date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AI가 상태를 분석하거나 이상을 감지한 시간입니다.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disease_area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이상이 감지된 식물 부위입니다.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예: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LEAF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ROOT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STEM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FRUIT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disease_name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감지된 문제 이름입니다. 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예: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NORMAL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growth_issue</a:t>
                      </a:r>
                      <a:r>
                        <a:rPr lang="ko-KR" sz="1100" u="none" strike="noStrike" cap="none"/>
                        <a:t>, 병해충명 등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disease_probability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병해충 또는 성장 이상 발생 가능성을 수치로 나타낸 값입니다.</a:t>
                      </a:r>
                      <a:endParaRPr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risk_level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AI가 판단한 위험도입니다. 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예: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NORMAL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WARNING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DANGER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b="1" u="none" strike="noStrike" cap="none"/>
                        <a:t>recommended_task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ko-KR" sz="1100" u="none" strike="noStrike" cap="none"/>
                        <a:t>AI 분석 결과에 따라 추천되는 작업입니다. 예: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OBSERVE</a:t>
                      </a:r>
                      <a:r>
                        <a:rPr lang="ko-KR" sz="1100" u="none" strike="noStrike" cap="none"/>
                        <a:t>, </a:t>
                      </a:r>
                      <a:r>
                        <a:rPr lang="ko-KR" sz="11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NUTRITION</a:t>
                      </a:r>
                      <a:endParaRPr sz="1100" u="none" strike="noStrike" cap="none"/>
                    </a:p>
                  </a:txBody>
                  <a:tcPr marL="39600" marR="39600" marT="19800" marB="19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09" name="Google Shape;1009;p4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0" name="Google Shape;1010;p4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1" name="Google Shape;1011;p41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2" name="Google Shape;1012;p4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3" name="Google Shape;1013;p4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4" name="Google Shape;1014;p4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41"/>
          <p:cNvPicPr preferRelativeResize="0"/>
          <p:nvPr/>
        </p:nvPicPr>
        <p:blipFill rotWithShape="1">
          <a:blip>
            <a:alphaModFix/>
          </a:blip>
          <a:srcRect l="34022" t="63569" r="41653" b="14792"/>
          <a:stretch/>
        </p:blipFill>
        <p:spPr>
          <a:xfrm>
            <a:off x="323529" y="1772816"/>
            <a:ext cx="3816424" cy="35283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6" name="Google Shape;1016;p41"/>
          <p:cNvGraphicFramePr/>
          <p:nvPr/>
        </p:nvGraphicFramePr>
        <p:xfrm>
          <a:off x="4499992" y="1700808"/>
          <a:ext cx="4145800" cy="390753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15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컬럼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역할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cell_id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승인 요청이 발생한 식물 셀 번호입니다.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cells</a:t>
                      </a:r>
                      <a:r>
                        <a:rPr lang="ko-KR" sz="1200" u="none" strike="noStrike" cap="none"/>
                        <a:t> 테이블과 연결됩니다.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id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승인 요청의 고유 번호입니다. 기본키(PK)로 사용됩니다.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ai_reading_id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승인 요청의 기준이 된 AI 분석 결과 ID입니다.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ai_readings</a:t>
                      </a:r>
                      <a:r>
                        <a:rPr lang="ko-KR" sz="1200" u="none" strike="noStrike" cap="none"/>
                        <a:t> 테이블과 연결됩니다.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requested_at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승인 요청이 생성된 시간입니다.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approval_status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승인 상태입니다. 예: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PENDING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APPROVED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REJECTED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approved_by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승인 또는 거절을 처리한 관리자 정보입니다.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approved_at</a:t>
                      </a:r>
                      <a:endParaRPr sz="1200" u="none" strike="noStrike" cap="none"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관리자가 승인 또는 거절을 처리한 시간입니다.</a:t>
                      </a:r>
                      <a:endParaRPr/>
                    </a:p>
                  </a:txBody>
                  <a:tcPr marL="59725" marR="59725" marT="29850" marB="29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22" name="Google Shape;1022;p4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3" name="Google Shape;1023;p4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4" name="Google Shape;1024;p42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5" name="Google Shape;1025;p4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6" name="Google Shape;1026;p4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27" name="Google Shape;1027;p4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42"/>
          <p:cNvPicPr preferRelativeResize="0"/>
          <p:nvPr/>
        </p:nvPicPr>
        <p:blipFill rotWithShape="1">
          <a:blip>
            <a:alphaModFix/>
          </a:blip>
          <a:srcRect l="68564" t="13536" r="11762" b="75387"/>
          <a:stretch/>
        </p:blipFill>
        <p:spPr>
          <a:xfrm>
            <a:off x="323528" y="2492896"/>
            <a:ext cx="3957794" cy="22322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9" name="Google Shape;1029;p42"/>
          <p:cNvGraphicFramePr/>
          <p:nvPr/>
        </p:nvGraphicFramePr>
        <p:xfrm>
          <a:off x="4597648" y="2091722"/>
          <a:ext cx="4291650" cy="310900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91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컬럼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역할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b="1" u="none" strike="noStrike" cap="none"/>
                        <a:t>key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설정 항목의 이름입니다. 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기본키(PK)로 사용됩니다. 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예: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ai_mode</a:t>
                      </a:r>
                      <a:r>
                        <a:rPr lang="ko-KR" sz="1800" u="none" strike="noStrike" cap="none"/>
                        <a:t>,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auto_monitor</a:t>
                      </a:r>
                      <a:r>
                        <a:rPr lang="ko-KR" sz="1800" u="none" strike="noStrike" cap="none"/>
                        <a:t>,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system_status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b="1" u="none" strike="noStrike" cap="none"/>
                        <a:t>value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해당 설정 항목의 값입니다. 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예: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</a:t>
                      </a:r>
                      <a:r>
                        <a:rPr lang="ko-KR" sz="1800" u="none" strike="noStrike" cap="none"/>
                        <a:t>,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OFF</a:t>
                      </a:r>
                      <a:r>
                        <a:rPr lang="ko-KR" sz="1800" u="none" strike="noStrike" cap="none"/>
                        <a:t>,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AUTO_MONITOR</a:t>
                      </a:r>
                      <a:r>
                        <a:rPr lang="ko-KR" sz="1800" u="none" strike="noStrike" cap="none"/>
                        <a:t>, </a:t>
                      </a:r>
                      <a:r>
                        <a:rPr lang="ko-KR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MANUAL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b="1" u="none" strike="noStrike" cap="none"/>
                        <a:t>updated_at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 u="none" strike="noStrike" cap="none"/>
                        <a:t>설정값이 마지막으로 변경된 시간입니다.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35" name="Google Shape;1035;p4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6" name="Google Shape;1036;p4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7" name="Google Shape;1037;p43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8" name="Google Shape;1038;p4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9" name="Google Shape;1039;p4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40" name="Google Shape;1040;p43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43"/>
          <p:cNvPicPr preferRelativeResize="0"/>
          <p:nvPr/>
        </p:nvPicPr>
        <p:blipFill rotWithShape="1">
          <a:blip>
            <a:alphaModFix/>
          </a:blip>
          <a:srcRect l="67314" t="29967" r="10639" b="42686"/>
          <a:stretch/>
        </p:blipFill>
        <p:spPr>
          <a:xfrm>
            <a:off x="323528" y="1617316"/>
            <a:ext cx="3312368" cy="41159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2" name="Google Shape;1042;p43"/>
          <p:cNvGraphicFramePr/>
          <p:nvPr/>
        </p:nvGraphicFramePr>
        <p:xfrm>
          <a:off x="3851920" y="1617315"/>
          <a:ext cx="4536500" cy="418785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1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컬럼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역할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id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로봇 피드백 데이터의 고유 번호입니다.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기본키(PK)로 사용됩니다.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task_id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피드백이 연결된 로봇 작업 ID입니다.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robot_tasks</a:t>
                      </a:r>
                      <a:r>
                        <a:rPr lang="ko-KR" sz="1000" u="none" strike="noStrike" cap="none"/>
                        <a:t> 테이블과 연결됩니다.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cell_id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작업이 수행된 식물 셀 번호입니다.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cells</a:t>
                      </a:r>
                      <a:r>
                        <a:rPr lang="ko-KR" sz="1000" u="none" strike="noStrike" cap="none"/>
                        <a:t> 테이블과 연결됩니다.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reported_at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로봇이 피드백을 보고한 시간입니다.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progress_rate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로봇 작업 진행률입니다.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0~100 범위로 표시됩니다.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temperature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작업 중 측정된 셀 내부 온도값입니다.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humidity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작업 중 측정된 셀 내부 습도값입니다.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sap_amount_ml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작업 중 측정되거나 공급된 수액량입니다.</a:t>
                      </a:r>
                      <a:endParaRPr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b="1" u="none" strike="noStrike" cap="none"/>
                        <a:t>robot_status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로봇의 현재 작업 상태입니다. 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lang="ko-KR" sz="1000" u="none" strike="noStrike" cap="none"/>
                        <a:t>예: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RUNNING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COMPLETE</a:t>
                      </a:r>
                      <a:r>
                        <a:rPr lang="ko-KR" sz="1000" u="none" strike="noStrike" cap="none"/>
                        <a:t>, </a:t>
                      </a:r>
                      <a:r>
                        <a:rPr lang="ko-KR" sz="10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ERROR</a:t>
                      </a:r>
                      <a:endParaRPr sz="1000" u="none" strike="noStrike" cap="none"/>
                    </a:p>
                  </a:txBody>
                  <a:tcPr marL="49125" marR="49125" marT="24575" marB="245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48" name="Google Shape;1048;p4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9" name="Google Shape;1049;p4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0" name="Google Shape;1050;p44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정의서 - 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1" name="Google Shape;1051;p4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2" name="Google Shape;1052;p4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53" name="Google Shape;1053;p44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44"/>
          <p:cNvPicPr preferRelativeResize="0"/>
          <p:nvPr/>
        </p:nvPicPr>
        <p:blipFill rotWithShape="1">
          <a:blip>
            <a:alphaModFix/>
          </a:blip>
          <a:srcRect l="67403" t="58979" r="8670" b="5200"/>
          <a:stretch/>
        </p:blipFill>
        <p:spPr>
          <a:xfrm>
            <a:off x="398984" y="1484784"/>
            <a:ext cx="3380928" cy="4816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5" name="Google Shape;1055;p44"/>
          <p:cNvGraphicFramePr/>
          <p:nvPr/>
        </p:nvGraphicFramePr>
        <p:xfrm>
          <a:off x="4139952" y="1387458"/>
          <a:ext cx="4464500" cy="506578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1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컬럼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역할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id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 작업의 고유 번호입니다.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기본키(PK)로 사용됩니다.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cell_id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작업 대상 식물 셀 번호입니다.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cells</a:t>
                      </a:r>
                      <a:r>
                        <a:rPr lang="ko-KR" sz="1200" u="none" strike="noStrike" cap="none"/>
                        <a:t> 테이블과 연결됩니다.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approval_id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해당 작업을 승인한 관리자 승인 요청 ID입니다.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approvals</a:t>
                      </a:r>
                      <a:r>
                        <a:rPr lang="ko-KR" sz="1200" u="none" strike="noStrike" cap="none"/>
                        <a:t> 테이블과 연결됩니다.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task_name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로봇이 수행할 작업 이름입니다.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예: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OBSERVE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NUTRITION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ESTOP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control_state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 제어 상태입니다.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예: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STOP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ESTOP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state_machine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 작업의 현재 처리 단계입니다.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예: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AI_DETECT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WAIT_APPROVAL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EXECUTE_TASK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REPORT_STATUS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COMPLETE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progress_rate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작업 진행률입니다.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0~100 범위로 작업 완료 정도를 표시합니다.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robot_status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로봇의 현재 상태 메시지입니다.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예: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WAITING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COMMAND_SENT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RUNNING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COMPLETE</a:t>
                      </a:r>
                      <a:r>
                        <a:rPr lang="ko-KR" sz="1200" u="none" strike="noStrike" cap="none"/>
                        <a:t>, </a:t>
                      </a:r>
                      <a:r>
                        <a:rPr lang="ko-KR" sz="12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ERROR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command_payload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로봇에게 전달할 상세 명령 데이터입니다. 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이동 위치, 작업 파라미터 등을 저장할 수 있습니다.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created_at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 작업이 생성된 시간입니다.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started_at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 작업이 실제로 시작된 시간입니다.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 u="none" strike="noStrike" cap="none"/>
                        <a:t>completed_at</a:t>
                      </a:r>
                      <a:endParaRPr sz="1200" u="none" strike="noStrike" cap="none"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u="none" strike="noStrike" cap="none"/>
                        <a:t>로봇 작업이 완료된 시간입니다.</a:t>
                      </a:r>
                      <a:endParaRPr/>
                    </a:p>
                  </a:txBody>
                  <a:tcPr marL="30550" marR="30550" marT="15275" marB="15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61" name="Google Shape;1061;p4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2" name="Google Shape;1062;p4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3" name="Google Shape;1063;p45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엔티티 관계도 -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ERD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4" name="Google Shape;1064;p4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5" name="Google Shape;1065;p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66" name="Google Shape;1066;p4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4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0" y="1357195"/>
            <a:ext cx="9144000" cy="5500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45"/>
          <p:cNvSpPr txBox="1"/>
          <p:nvPr/>
        </p:nvSpPr>
        <p:spPr>
          <a:xfrm>
            <a:off x="3419872" y="768272"/>
            <a:ext cx="45893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테이블 간 관계(외래키 관계)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46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74" name="Google Shape;1074;p4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5" name="Google Shape;1075;p4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76" name="Google Shape;1076;p46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77" name="Google Shape;1077;p46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78" name="Google Shape;1078;p4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80" name="Google Shape;1080;p46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81" name="Google Shape;1081;p46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83" name="Google Shape;1083;p46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084" name="Google Shape;1084;p46"/>
          <p:cNvPicPr preferRelativeResize="0"/>
          <p:nvPr/>
        </p:nvPicPr>
        <p:blipFill rotWithShape="1">
          <a:blip>
            <a:alphaModFix/>
          </a:blip>
          <a:srcRect l="19091" t="8370" b="722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46"/>
          <p:cNvSpPr/>
          <p:nvPr/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6" name="Google Shape;1086;p46"/>
          <p:cNvSpPr/>
          <p:nvPr/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dk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87" name="Google Shape;1087;p46"/>
          <p:cNvCxnSpPr/>
          <p:nvPr/>
        </p:nvCxnSpPr>
        <p:spPr>
          <a:xfrm>
            <a:off x="7028259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8" name="Google Shape;1088;p46"/>
          <p:cNvCxnSpPr/>
          <p:nvPr/>
        </p:nvCxnSpPr>
        <p:spPr>
          <a:xfrm flipH="1">
            <a:off x="5568950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9" name="Google Shape;1089;p46"/>
          <p:cNvSpPr/>
          <p:nvPr/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0" name="Google Shape;1090;p46"/>
          <p:cNvSpPr/>
          <p:nvPr/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1" name="Google Shape;1091;p46"/>
          <p:cNvSpPr/>
          <p:nvPr/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2" name="Google Shape;1092;p46"/>
          <p:cNvSpPr txBox="1"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</a:pPr>
            <a:r>
              <a:rPr lang="ko-KR" sz="3400"/>
              <a:t>소프트웨어기능 설계 </a:t>
            </a:r>
            <a:br>
              <a:rPr lang="ko-KR" sz="3400"/>
            </a:br>
            <a:r>
              <a:rPr lang="ko-KR" sz="3400"/>
              <a:t>(Software funtion design)</a:t>
            </a:r>
            <a:endParaRPr/>
          </a:p>
        </p:txBody>
      </p:sp>
      <p:sp>
        <p:nvSpPr>
          <p:cNvPr id="1093" name="Google Shape;1093;p46"/>
          <p:cNvSpPr txBox="1">
            <a:spLocks noGrp="1"/>
          </p:cNvSpPr>
          <p:nvPr>
            <p:ph type="ftr" idx="11"/>
          </p:nvPr>
        </p:nvSpPr>
        <p:spPr>
          <a:xfrm>
            <a:off x="3069300" y="6041362"/>
            <a:ext cx="3016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  <p:sp>
        <p:nvSpPr>
          <p:cNvPr id="1094" name="Google Shape;1094;p46"/>
          <p:cNvSpPr/>
          <p:nvPr/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4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5" name="Google Shape;1095;p46"/>
          <p:cNvSpPr/>
          <p:nvPr/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6" name="Google Shape;1096;p46"/>
          <p:cNvSpPr/>
          <p:nvPr/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7" name="Google Shape;1097;p46"/>
          <p:cNvSpPr/>
          <p:nvPr/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03" name="Google Shape;1103;p4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4" name="Google Shape;1104;p4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5" name="Google Shape;1105;p47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프로그램 - 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목록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6" name="Google Shape;1106;p4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107" name="Google Shape;1107;p47"/>
          <p:cNvGraphicFramePr/>
          <p:nvPr/>
        </p:nvGraphicFramePr>
        <p:xfrm>
          <a:off x="298210" y="1263629"/>
          <a:ext cx="8547575" cy="540531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2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기능 분류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기능파일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기능 명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75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JETSON_ROBOT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strew_robot/main.py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실행 진입점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agent.py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전체 작업 흐름 제어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cloud_client.py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AWS API 통신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vision_source.py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CSI 카메라/Mock 비전 소스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arduino_link.py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USB 시리얼 JSON 통신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7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strew-robot-agent.service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Jetson 부팅 후 python -m strew_robot.main 자동 실행 가능하도록 서비스 파일 제공.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047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AWS _SERVER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solidFill>
                            <a:srgbClr val="0C1522"/>
                          </a:solidFill>
                        </a:rPr>
                        <a:t>app\</a:t>
                      </a:r>
                      <a:r>
                        <a:rPr lang="ko-KR" sz="1200" u="sng" strike="noStrike" cap="none">
                          <a:solidFill>
                            <a:srgbClr val="0C1522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main.py</a:t>
                      </a:r>
                      <a:endParaRPr sz="1200" u="none" strike="noStrike" cap="none">
                        <a:solidFill>
                          <a:srgbClr val="0C1522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/>
                        <a:t>/robot/request: 로봇에게 보낼 작업 생성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/robot/next: 특정 로봇이 다음 작업을 가져감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/robot/response: 로봇 수행 결과 저장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/vision/event: Jetson/카메라 비전 이벤트 저장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/robot/tasks, /robot/responses: 작업/응답 목록 조회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/health: 상태 확인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/: 간단한 웹 대시보드 제공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5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sng">
                          <a:solidFill>
                            <a:srgbClr val="0C1522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</a:t>
                      </a:r>
                      <a:r>
                        <a:rPr lang="ko-KR" sz="1200" u="sng">
                          <a:solidFill>
                            <a:srgbClr val="99CA3C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pp\</a:t>
                      </a:r>
                      <a:r>
                        <a:rPr lang="ko-KR" sz="1200" u="sng">
                          <a:solidFill>
                            <a:srgbClr val="0C1522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schemas.py</a:t>
                      </a:r>
                      <a:endParaRPr sz="1200">
                        <a:solidFill>
                          <a:srgbClr val="0C1522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API 데이터 구조 정의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RobotTask, RobotResponse, VisionEvent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작업 상태: queued, sent, running, done, failed, cancelled</a:t>
                      </a:r>
                      <a:endParaRPr sz="1200"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2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0C1522"/>
                          </a:solidFill>
                        </a:rPr>
                        <a:t>app\</a:t>
                      </a:r>
                      <a:r>
                        <a:rPr lang="ko-KR" sz="1200" u="sng">
                          <a:solidFill>
                            <a:srgbClr val="0C1522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repository.py</a:t>
                      </a:r>
                      <a:endParaRPr sz="1200">
                        <a:solidFill>
                          <a:srgbClr val="0C1522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저장소 계층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로컬 개발 시 data/strew_store.json에 저장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AWS 배포 시 DynamoDB에 저장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즉, 같은 API를 로컬/클라우드 둘 다에서 쓸 수 있게 만든 구조입니다.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108" name="Google Shape;1108;p47"/>
          <p:cNvPicPr preferRelativeResize="0"/>
          <p:nvPr/>
        </p:nvPicPr>
        <p:blipFill rotWithShape="1">
          <a:blip r:embed="rId6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14" name="Google Shape;1114;p4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5" name="Google Shape;1115;p4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6" name="Google Shape;1116;p48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프로그램 - </a:t>
            </a: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목록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7" name="Google Shape;1117;p4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118" name="Google Shape;1118;p48"/>
          <p:cNvGraphicFramePr/>
          <p:nvPr/>
        </p:nvGraphicFramePr>
        <p:xfrm>
          <a:off x="298210" y="1556792"/>
          <a:ext cx="8547575" cy="490867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2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기능 분류</a:t>
                      </a:r>
                      <a:endParaRPr sz="1200" b="1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기능파일</a:t>
                      </a:r>
                      <a:endParaRPr sz="1200" b="1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기능 명</a:t>
                      </a:r>
                      <a:endParaRPr sz="1200" b="1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50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AWS_SERVER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app\</a:t>
                      </a:r>
                      <a:r>
                        <a:rPr lang="ko-KR" sz="1200" u="sng">
                          <a:solidFill>
                            <a:schemeClr val="hlink"/>
                          </a:solidFill>
                          <a:hlinkClick r:id="rId3"/>
                        </a:rPr>
                        <a:t>settings.py</a:t>
                      </a:r>
                      <a:endParaRPr sz="120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.env 기반 설정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저장소 선택: local 또는 dynamodb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AWS 리전, DynamoDB 테이블명, API 키 설정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terraform\</a:t>
                      </a:r>
                      <a:r>
                        <a:rPr lang="ko-KR" sz="1200" u="sng">
                          <a:solidFill>
                            <a:schemeClr val="hlink"/>
                          </a:solidFill>
                          <a:hlinkClick r:id="rId4"/>
                        </a:rPr>
                        <a:t>main.tf</a:t>
                      </a:r>
                      <a:endParaRPr sz="120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AWS 인프라 정의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VPC, Public Subnet, Internet Gateway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Application Load Balancer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ECS Fargate 서비스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DynamoDB 테이블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CloudWatch Log Group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ECS Task Role/IAM 권한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배포 시 STORAGE_BACKEND=dynamodb로 실행되게 구성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terraform\</a:t>
                      </a:r>
                      <a:r>
                        <a:rPr lang="ko-KR" sz="1200" u="sng">
                          <a:solidFill>
                            <a:schemeClr val="hlink"/>
                          </a:solidFill>
                          <a:hlinkClick r:id="rId5"/>
                        </a:rPr>
                        <a:t>variables.tf</a:t>
                      </a:r>
                      <a:endParaRPr sz="120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project_name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aws_region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container_image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api_key</a:t>
                      </a:r>
                      <a:endParaRPr sz="1200"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scripts\run_local.ps1</a:t>
                      </a:r>
                      <a:endParaRPr sz="120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로컬 개발 실행 스크립트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.env 생성, venv 생성, requirements 설치, uvicorn 실행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scripts\build_and_push_ecr.ps1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scripts\build_and_push_ecr.ps1</a:t>
                      </a:r>
                      <a:endParaRPr sz="120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Docker 이미지 빌드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AWS ECR 로그인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이미지 태그 후 ECR에 push</a:t>
                      </a:r>
                      <a:endParaRPr sz="1200"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app\static\index.html</a:t>
                      </a:r>
                      <a:endParaRPr sz="120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간단한 웹 화면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API Key 입력 후 로봇 작업 전송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최근 작업 목록 조회</a:t>
                      </a:r>
                      <a:endParaRPr/>
                    </a:p>
                  </a:txBody>
                  <a:tcPr marL="42250" marR="42250" marT="11675" marB="116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19" name="Google Shape;1119;p48"/>
          <p:cNvPicPr preferRelativeResize="0"/>
          <p:nvPr/>
        </p:nvPicPr>
        <p:blipFill rotWithShape="1">
          <a:blip r:embed="rId6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25" name="Google Shape;1125;p4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6" name="Google Shape;1126;p4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7" name="Google Shape;1127;p49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명세서 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8" name="Google Shape;1128;p4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29" name="Google Shape;1129;p4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0" name="Google Shape;1130;p49"/>
          <p:cNvGraphicFramePr/>
          <p:nvPr/>
        </p:nvGraphicFramePr>
        <p:xfrm>
          <a:off x="3956859" y="1309048"/>
          <a:ext cx="4320475" cy="496860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</a:t>
                      </a:r>
                      <a:endParaRPr/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C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350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S/W</a:t>
                      </a:r>
                      <a:endParaRPr/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하우스 식물 온도습도  상태보기</a:t>
                      </a:r>
                      <a:endParaRPr/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최근 일주일 동안 누적된 식물의 온도 습도 데이터를 그래프화하여 확인할 수 있습니다.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3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식물셀 상시 모니터링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4개 셀에 보식된 식물의 상태를 지속적으로 감시하고 병해충 발생 여부를 확인합니다.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3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AI 드라이브 자동 판단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설정된 임계값을 초과하면 AI가 자동으로 상태를 분석하고 위험 여부를 판단합니다.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보식 작업 결정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AI 분석 결과를 바탕으로 문제가 발생한 식물셀의 보식 필요 여부를 결정합니다.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3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성장률 및 생산성 분석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보식 날짜를 기준으로 셀별 평균 성장률을 계산하고 전체 생산성을 산출합니다.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3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생장 환경 최적화 제어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온습도 측정값을 목표 설정값과 비교하고 PID 제어를 통해 생장 환경을 최적화합니다.</a:t>
                      </a:r>
                      <a:endParaRPr sz="9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8575" marB="857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31" name="Google Shape;1131;p49"/>
          <p:cNvPicPr preferRelativeResize="0"/>
          <p:nvPr/>
        </p:nvPicPr>
        <p:blipFill rotWithShape="1">
          <a:blip>
            <a:alphaModFix/>
          </a:blip>
          <a:srcRect l="-2499" t="-914" r="343" b="-132"/>
          <a:stretch/>
        </p:blipFill>
        <p:spPr>
          <a:xfrm>
            <a:off x="798793" y="1116672"/>
            <a:ext cx="2217291" cy="5741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50"/>
          <p:cNvPicPr preferRelativeResize="0"/>
          <p:nvPr/>
        </p:nvPicPr>
        <p:blipFill rotWithShape="1">
          <a:blip>
            <a:alphaModFix/>
          </a:blip>
          <a:srcRect l="4982" t="2224" r="6778" b="51211"/>
          <a:stretch/>
        </p:blipFill>
        <p:spPr>
          <a:xfrm>
            <a:off x="603350" y="1657867"/>
            <a:ext cx="3169813" cy="4393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5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38" name="Google Shape;1138;p5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9" name="Google Shape;1139;p5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0" name="Google Shape;1140;p50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1" name="Google Shape;1141;p5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2" name="Google Shape;1142;p50"/>
          <p:cNvSpPr/>
          <p:nvPr/>
        </p:nvSpPr>
        <p:spPr>
          <a:xfrm>
            <a:off x="3923928" y="1473901"/>
            <a:ext cx="4822420" cy="25719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3" name="Google Shape;1143;p50"/>
          <p:cNvSpPr/>
          <p:nvPr/>
        </p:nvSpPr>
        <p:spPr>
          <a:xfrm>
            <a:off x="3923928" y="4283396"/>
            <a:ext cx="4822419" cy="190367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4" name="Google Shape;1144;p50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50"/>
          <p:cNvSpPr txBox="1"/>
          <p:nvPr/>
        </p:nvSpPr>
        <p:spPr>
          <a:xfrm>
            <a:off x="3995936" y="1685707"/>
            <a:ext cx="4570864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1. 시스템 시작 및 셀 조회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시스템이 시작되면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cells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테이블에서 활성화된 식물 셀 목록을 조회한다.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조회 대상은 기본적으로 1번부터 4번까지의 셀이며,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is_active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값이 활성 상태인 셀만 검사 대상으로 지정한다.</a:t>
            </a:r>
            <a:endParaRPr/>
          </a:p>
        </p:txBody>
      </p:sp>
      <p:sp>
        <p:nvSpPr>
          <p:cNvPr id="1146" name="Google Shape;1146;p50"/>
          <p:cNvSpPr txBox="1"/>
          <p:nvPr/>
        </p:nvSpPr>
        <p:spPr>
          <a:xfrm>
            <a:off x="3995936" y="4509120"/>
            <a:ext cx="458724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cells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처리 내용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active_cells = cells where is_active = true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1" name="Google Shape;1151;p51"/>
          <p:cNvPicPr preferRelativeResize="0"/>
          <p:nvPr/>
        </p:nvPicPr>
        <p:blipFill rotWithShape="1">
          <a:blip>
            <a:alphaModFix/>
          </a:blip>
          <a:srcRect l="15706" t="47541" r="12025" b="14606"/>
          <a:stretch/>
        </p:blipFill>
        <p:spPr>
          <a:xfrm>
            <a:off x="407496" y="1657868"/>
            <a:ext cx="3096344" cy="4176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5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53" name="Google Shape;1153;p5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4" name="Google Shape;1154;p5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5" name="Google Shape;1155;p51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6" name="Google Shape;1156;p5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7" name="Google Shape;1157;p51"/>
          <p:cNvSpPr/>
          <p:nvPr/>
        </p:nvSpPr>
        <p:spPr>
          <a:xfrm>
            <a:off x="3926044" y="1484785"/>
            <a:ext cx="4822420" cy="252027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8" name="Google Shape;1158;p51"/>
          <p:cNvSpPr/>
          <p:nvPr/>
        </p:nvSpPr>
        <p:spPr>
          <a:xfrm>
            <a:off x="3926044" y="4277361"/>
            <a:ext cx="4822420" cy="190367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59" name="Google Shape;1159;p5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51"/>
          <p:cNvSpPr txBox="1"/>
          <p:nvPr/>
        </p:nvSpPr>
        <p:spPr>
          <a:xfrm>
            <a:off x="3939010" y="2012647"/>
            <a:ext cx="459343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2. 셀별 센서 데이터 수집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시스템은 조회된 셀을 순서대로 검사한다.</a:t>
            </a: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각 셀에 대해 온도, 습도, 수액량 등의 센서 데이터를 측정한다.</a:t>
            </a:r>
            <a:endParaRPr/>
          </a:p>
        </p:txBody>
      </p:sp>
      <p:sp>
        <p:nvSpPr>
          <p:cNvPr id="1161" name="Google Shape;1161;p51"/>
          <p:cNvSpPr txBox="1"/>
          <p:nvPr/>
        </p:nvSpPr>
        <p:spPr>
          <a:xfrm>
            <a:off x="3923928" y="4338970"/>
            <a:ext cx="458724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수집 데이터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셀 번호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온도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습도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수액량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측정 시간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52"/>
          <p:cNvPicPr preferRelativeResize="0"/>
          <p:nvPr/>
        </p:nvPicPr>
        <p:blipFill rotWithShape="1">
          <a:blip>
            <a:alphaModFix/>
          </a:blip>
          <a:srcRect l="13747" t="64471" r="3901" b="1818"/>
          <a:stretch/>
        </p:blipFill>
        <p:spPr>
          <a:xfrm>
            <a:off x="251520" y="1797814"/>
            <a:ext cx="3528392" cy="371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5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68" name="Google Shape;1168;p5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9" name="Google Shape;1169;p5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0" name="Google Shape;1170;p52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1" name="Google Shape;1171;p5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2" name="Google Shape;1172;p52"/>
          <p:cNvSpPr/>
          <p:nvPr/>
        </p:nvSpPr>
        <p:spPr>
          <a:xfrm>
            <a:off x="3851920" y="1473901"/>
            <a:ext cx="4966436" cy="192957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3" name="Google Shape;1173;p52"/>
          <p:cNvSpPr/>
          <p:nvPr/>
        </p:nvSpPr>
        <p:spPr>
          <a:xfrm>
            <a:off x="3851919" y="3742030"/>
            <a:ext cx="4752529" cy="260784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4" name="Google Shape;1174;p5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52"/>
          <p:cNvSpPr txBox="1"/>
          <p:nvPr/>
        </p:nvSpPr>
        <p:spPr>
          <a:xfrm>
            <a:off x="3923928" y="1570958"/>
            <a:ext cx="459343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 센서 로그 저장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측정된 센서값은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sensor_logs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 저장한다.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 데이터는 이후 임계값 비교와 AI 분석의 기준 데이터로 사용된다.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6" name="Google Shape;1176;p52"/>
          <p:cNvSpPr txBox="1"/>
          <p:nvPr/>
        </p:nvSpPr>
        <p:spPr>
          <a:xfrm>
            <a:off x="3851920" y="3764800"/>
            <a:ext cx="458724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sensor_logs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저장 항목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measured_at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temperature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humidity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sap_amount_ml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env_warning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5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82" name="Google Shape;1182;p5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3" name="Google Shape;1183;p5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53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5" name="Google Shape;1185;p5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6" name="Google Shape;1186;p53"/>
          <p:cNvSpPr/>
          <p:nvPr/>
        </p:nvSpPr>
        <p:spPr>
          <a:xfrm>
            <a:off x="3851920" y="1473901"/>
            <a:ext cx="5110452" cy="217645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7" name="Google Shape;1187;p53"/>
          <p:cNvSpPr/>
          <p:nvPr/>
        </p:nvSpPr>
        <p:spPr>
          <a:xfrm>
            <a:off x="3851920" y="3795496"/>
            <a:ext cx="5110452" cy="26331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88" name="Google Shape;1188;p53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53"/>
          <p:cNvSpPr txBox="1"/>
          <p:nvPr/>
        </p:nvSpPr>
        <p:spPr>
          <a:xfrm>
            <a:off x="3995936" y="1619036"/>
            <a:ext cx="4006111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 임계값 조회 및 정상 범위 판단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시스템은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thresholds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테이블에서 관리자가 설정한 기준값을 조회한다.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온도, 습도, 수액량, 병해충 확률 등의 항목을 기준으로 현재 센서값이 정상 범위에 있는지 판단한다.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0" name="Google Shape;1190;p53"/>
          <p:cNvSpPr txBox="1"/>
          <p:nvPr/>
        </p:nvSpPr>
        <p:spPr>
          <a:xfrm>
            <a:off x="3967019" y="3861048"/>
            <a:ext cx="432048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Thresholds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판단 로직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sensor_value &lt; min_value or sensor_value &gt; max_value: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status = WARNING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status = NORMAL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91" name="Google Shape;1191;p53"/>
          <p:cNvPicPr preferRelativeResize="0"/>
          <p:nvPr/>
        </p:nvPicPr>
        <p:blipFill rotWithShape="1">
          <a:blip>
            <a:alphaModFix/>
          </a:blip>
          <a:srcRect l="21368" t="1759" r="49426" b="68495"/>
          <a:stretch/>
        </p:blipFill>
        <p:spPr>
          <a:xfrm>
            <a:off x="683568" y="1700808"/>
            <a:ext cx="2448272" cy="4354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97" name="Google Shape;1197;p5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8" name="Google Shape;1198;p5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9" name="Google Shape;1199;p54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0" name="Google Shape;1200;p5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1" name="Google Shape;1201;p54"/>
          <p:cNvSpPr/>
          <p:nvPr/>
        </p:nvSpPr>
        <p:spPr>
          <a:xfrm>
            <a:off x="3923928" y="1473901"/>
            <a:ext cx="5038444" cy="25719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2" name="Google Shape;1202;p54"/>
          <p:cNvSpPr/>
          <p:nvPr/>
        </p:nvSpPr>
        <p:spPr>
          <a:xfrm>
            <a:off x="3915936" y="4277361"/>
            <a:ext cx="5038444" cy="190367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03" name="Google Shape;1203;p54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54"/>
          <p:cNvSpPr txBox="1"/>
          <p:nvPr/>
        </p:nvSpPr>
        <p:spPr>
          <a:xfrm>
            <a:off x="4011018" y="1628800"/>
            <a:ext cx="459343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5. 환경 경고 및 이벤트 기록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센서값이 임계값을 벗어나면 해당 센서 로그의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env_warning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값을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WARNING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으로 처리한다.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또한 이상 상태 발생 내용을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system_events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 이벤트로 저장한다.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5" name="Google Shape;1205;p54"/>
          <p:cNvSpPr txBox="1"/>
          <p:nvPr/>
        </p:nvSpPr>
        <p:spPr>
          <a:xfrm>
            <a:off x="3995936" y="4358071"/>
            <a:ext cx="458724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sensor_logs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system_events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처리 내용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env_warning = WARNING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save system_events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06" name="Google Shape;1206;p54"/>
          <p:cNvPicPr preferRelativeResize="0"/>
          <p:nvPr/>
        </p:nvPicPr>
        <p:blipFill rotWithShape="1">
          <a:blip>
            <a:alphaModFix/>
          </a:blip>
          <a:srcRect l="21368" t="21743" r="37744" b="49795"/>
          <a:stretch/>
        </p:blipFill>
        <p:spPr>
          <a:xfrm>
            <a:off x="513542" y="1817441"/>
            <a:ext cx="3089446" cy="375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12" name="Google Shape;1212;p5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3" name="Google Shape;1213;p5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4" name="Google Shape;1214;p55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5" name="Google Shape;1215;p5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6" name="Google Shape;1216;p55"/>
          <p:cNvSpPr/>
          <p:nvPr/>
        </p:nvSpPr>
        <p:spPr>
          <a:xfrm>
            <a:off x="3635896" y="1473900"/>
            <a:ext cx="5301184" cy="203132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7" name="Google Shape;1217;p55"/>
          <p:cNvSpPr/>
          <p:nvPr/>
        </p:nvSpPr>
        <p:spPr>
          <a:xfrm>
            <a:off x="3635896" y="3645024"/>
            <a:ext cx="5328592" cy="254204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18" name="Google Shape;1218;p5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55"/>
          <p:cNvSpPr txBox="1"/>
          <p:nvPr/>
        </p:nvSpPr>
        <p:spPr>
          <a:xfrm>
            <a:off x="3707904" y="1613699"/>
            <a:ext cx="459343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6. AI 분석 실행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드라이브 모드가 활성화되어 있으면 센서값, 임계값 초과 여부, 식물 상태 데이터를 기반으로 AI 분석을 실행한다.</a:t>
            </a: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AI는 식물의 병해충 가능성, 이상 부위, 위험도, 추천 작업을 판단한다.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0" name="Google Shape;1220;p55"/>
          <p:cNvSpPr txBox="1"/>
          <p:nvPr/>
        </p:nvSpPr>
        <p:spPr>
          <a:xfrm>
            <a:off x="3714094" y="3864005"/>
            <a:ext cx="458724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분석 기준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온도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습도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수액량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성장률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병해충 가능성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임계값 초과 여부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셀 상태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21" name="Google Shape;1221;p55"/>
          <p:cNvPicPr preferRelativeResize="0"/>
          <p:nvPr/>
        </p:nvPicPr>
        <p:blipFill rotWithShape="1">
          <a:blip>
            <a:alphaModFix/>
          </a:blip>
          <a:srcRect l="24025" t="32084" r="41258" b="44729"/>
          <a:stretch/>
        </p:blipFill>
        <p:spPr>
          <a:xfrm>
            <a:off x="377506" y="1772816"/>
            <a:ext cx="3096343" cy="361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27" name="Google Shape;1227;p56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8" name="Google Shape;1228;p56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9" name="Google Shape;1229;p56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0" name="Google Shape;1230;p56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1" name="Google Shape;1231;p56"/>
          <p:cNvSpPr/>
          <p:nvPr/>
        </p:nvSpPr>
        <p:spPr>
          <a:xfrm>
            <a:off x="3851920" y="1475769"/>
            <a:ext cx="5171707" cy="147732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2" name="Google Shape;1232;p56"/>
          <p:cNvSpPr/>
          <p:nvPr/>
        </p:nvSpPr>
        <p:spPr>
          <a:xfrm>
            <a:off x="3851920" y="3034120"/>
            <a:ext cx="5110452" cy="341632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33" name="Google Shape;1233;p56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56"/>
          <p:cNvSpPr txBox="1"/>
          <p:nvPr/>
        </p:nvSpPr>
        <p:spPr>
          <a:xfrm>
            <a:off x="3992866" y="1556792"/>
            <a:ext cx="459343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7. AI 분석 결과 저장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분석 결과는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ai_readings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 저장한다.</a:t>
            </a: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각 결과는 특정 셀과 센서 로그에 연결된다.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35" name="Google Shape;1235;p56"/>
          <p:cNvPicPr preferRelativeResize="0"/>
          <p:nvPr/>
        </p:nvPicPr>
        <p:blipFill rotWithShape="1">
          <a:blip>
            <a:alphaModFix/>
          </a:blip>
          <a:srcRect l="24025" t="32085" r="41258" b="36820"/>
          <a:stretch/>
        </p:blipFill>
        <p:spPr>
          <a:xfrm>
            <a:off x="395537" y="1473900"/>
            <a:ext cx="3096343" cy="48429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6" name="Google Shape;1236;p56"/>
          <p:cNvGrpSpPr/>
          <p:nvPr/>
        </p:nvGrpSpPr>
        <p:grpSpPr>
          <a:xfrm>
            <a:off x="3886840" y="3037433"/>
            <a:ext cx="4587240" cy="3415485"/>
            <a:chOff x="0" y="417"/>
            <a:chExt cx="4587240" cy="3415485"/>
          </a:xfrm>
        </p:grpSpPr>
        <p:cxnSp>
          <p:nvCxnSpPr>
            <p:cNvPr id="1237" name="Google Shape;1237;p56"/>
            <p:cNvCxnSpPr/>
            <p:nvPr/>
          </p:nvCxnSpPr>
          <p:spPr>
            <a:xfrm>
              <a:off x="0" y="417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38" name="Google Shape;1238;p56"/>
            <p:cNvSpPr/>
            <p:nvPr/>
          </p:nvSpPr>
          <p:spPr>
            <a:xfrm>
              <a:off x="0" y="417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6"/>
            <p:cNvSpPr txBox="1"/>
            <p:nvPr/>
          </p:nvSpPr>
          <p:spPr>
            <a:xfrm>
              <a:off x="0" y="417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ai_readings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40" name="Google Shape;1240;p56"/>
            <p:cNvCxnSpPr/>
            <p:nvPr/>
          </p:nvCxnSpPr>
          <p:spPr>
            <a:xfrm>
              <a:off x="0" y="341965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1" name="Google Shape;1241;p56"/>
            <p:cNvSpPr/>
            <p:nvPr/>
          </p:nvSpPr>
          <p:spPr>
            <a:xfrm>
              <a:off x="0" y="341965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6"/>
            <p:cNvSpPr txBox="1"/>
            <p:nvPr/>
          </p:nvSpPr>
          <p:spPr>
            <a:xfrm>
              <a:off x="0" y="341965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cell_id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43" name="Google Shape;1243;p56"/>
            <p:cNvCxnSpPr/>
            <p:nvPr/>
          </p:nvCxnSpPr>
          <p:spPr>
            <a:xfrm>
              <a:off x="0" y="683514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4" name="Google Shape;1244;p56"/>
            <p:cNvSpPr/>
            <p:nvPr/>
          </p:nvSpPr>
          <p:spPr>
            <a:xfrm>
              <a:off x="0" y="683514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6"/>
            <p:cNvSpPr txBox="1"/>
            <p:nvPr/>
          </p:nvSpPr>
          <p:spPr>
            <a:xfrm>
              <a:off x="0" y="683514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sensor_log_id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46" name="Google Shape;1246;p56"/>
            <p:cNvCxnSpPr/>
            <p:nvPr/>
          </p:nvCxnSpPr>
          <p:spPr>
            <a:xfrm>
              <a:off x="0" y="1025062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7" name="Google Shape;1247;p56"/>
            <p:cNvSpPr/>
            <p:nvPr/>
          </p:nvSpPr>
          <p:spPr>
            <a:xfrm>
              <a:off x="0" y="1025062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56"/>
            <p:cNvSpPr txBox="1"/>
            <p:nvPr/>
          </p:nvSpPr>
          <p:spPr>
            <a:xfrm>
              <a:off x="0" y="1025062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ai_mode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49" name="Google Shape;1249;p56"/>
            <p:cNvCxnSpPr/>
            <p:nvPr/>
          </p:nvCxnSpPr>
          <p:spPr>
            <a:xfrm>
              <a:off x="0" y="1366611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0" name="Google Shape;1250;p56"/>
            <p:cNvSpPr/>
            <p:nvPr/>
          </p:nvSpPr>
          <p:spPr>
            <a:xfrm>
              <a:off x="0" y="1366611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6"/>
            <p:cNvSpPr txBox="1"/>
            <p:nvPr/>
          </p:nvSpPr>
          <p:spPr>
            <a:xfrm>
              <a:off x="0" y="1366611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detected_date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52" name="Google Shape;1252;p56"/>
            <p:cNvCxnSpPr/>
            <p:nvPr/>
          </p:nvCxnSpPr>
          <p:spPr>
            <a:xfrm>
              <a:off x="0" y="1708159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3" name="Google Shape;1253;p56"/>
            <p:cNvSpPr/>
            <p:nvPr/>
          </p:nvSpPr>
          <p:spPr>
            <a:xfrm>
              <a:off x="0" y="1708159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6"/>
            <p:cNvSpPr txBox="1"/>
            <p:nvPr/>
          </p:nvSpPr>
          <p:spPr>
            <a:xfrm>
              <a:off x="0" y="1708159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disease_area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55" name="Google Shape;1255;p56"/>
            <p:cNvCxnSpPr/>
            <p:nvPr/>
          </p:nvCxnSpPr>
          <p:spPr>
            <a:xfrm>
              <a:off x="0" y="2049708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6" name="Google Shape;1256;p56"/>
            <p:cNvSpPr/>
            <p:nvPr/>
          </p:nvSpPr>
          <p:spPr>
            <a:xfrm>
              <a:off x="0" y="2049708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6"/>
            <p:cNvSpPr txBox="1"/>
            <p:nvPr/>
          </p:nvSpPr>
          <p:spPr>
            <a:xfrm>
              <a:off x="0" y="2049708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disease_name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58" name="Google Shape;1258;p56"/>
            <p:cNvCxnSpPr/>
            <p:nvPr/>
          </p:nvCxnSpPr>
          <p:spPr>
            <a:xfrm>
              <a:off x="0" y="2391257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9" name="Google Shape;1259;p56"/>
            <p:cNvSpPr/>
            <p:nvPr/>
          </p:nvSpPr>
          <p:spPr>
            <a:xfrm>
              <a:off x="0" y="2391257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6"/>
            <p:cNvSpPr txBox="1"/>
            <p:nvPr/>
          </p:nvSpPr>
          <p:spPr>
            <a:xfrm>
              <a:off x="0" y="2391257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disease_probability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61" name="Google Shape;1261;p56"/>
            <p:cNvCxnSpPr/>
            <p:nvPr/>
          </p:nvCxnSpPr>
          <p:spPr>
            <a:xfrm>
              <a:off x="0" y="2732805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2" name="Google Shape;1262;p56"/>
            <p:cNvSpPr/>
            <p:nvPr/>
          </p:nvSpPr>
          <p:spPr>
            <a:xfrm>
              <a:off x="0" y="2732805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6"/>
            <p:cNvSpPr txBox="1"/>
            <p:nvPr/>
          </p:nvSpPr>
          <p:spPr>
            <a:xfrm>
              <a:off x="0" y="2732805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risk_level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64" name="Google Shape;1264;p56"/>
            <p:cNvCxnSpPr/>
            <p:nvPr/>
          </p:nvCxnSpPr>
          <p:spPr>
            <a:xfrm>
              <a:off x="0" y="3074354"/>
              <a:ext cx="4587240" cy="0"/>
            </a:xfrm>
            <a:prstGeom prst="straightConnector1">
              <a:avLst/>
            </a:prstGeom>
            <a:solidFill>
              <a:srgbClr val="8DC226"/>
            </a:solidFill>
            <a:ln w="19050" cap="rnd" cmpd="sng">
              <a:solidFill>
                <a:srgbClr val="8DC2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5" name="Google Shape;1265;p56"/>
            <p:cNvSpPr/>
            <p:nvPr/>
          </p:nvSpPr>
          <p:spPr>
            <a:xfrm>
              <a:off x="0" y="3074354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6"/>
            <p:cNvSpPr txBox="1"/>
            <p:nvPr/>
          </p:nvSpPr>
          <p:spPr>
            <a:xfrm>
              <a:off x="0" y="3074354"/>
              <a:ext cx="4587240" cy="341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ko-KR" sz="16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recommended_task</a:t>
              </a:r>
              <a:endPara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57"/>
          <p:cNvPicPr preferRelativeResize="0"/>
          <p:nvPr/>
        </p:nvPicPr>
        <p:blipFill rotWithShape="1">
          <a:blip>
            <a:alphaModFix/>
          </a:blip>
          <a:srcRect l="3035" t="62347" r="2394" b="13751"/>
          <a:stretch/>
        </p:blipFill>
        <p:spPr>
          <a:xfrm>
            <a:off x="911877" y="1530773"/>
            <a:ext cx="6377694" cy="281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5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73" name="Google Shape;1273;p5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4" name="Google Shape;1274;p5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5" name="Google Shape;1275;p57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6" name="Google Shape;1276;p5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77" name="Google Shape;1277;p57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8" name="Google Shape;1278;p57"/>
          <p:cNvGraphicFramePr/>
          <p:nvPr/>
        </p:nvGraphicFramePr>
        <p:xfrm>
          <a:off x="688594" y="4581128"/>
          <a:ext cx="6600975" cy="201170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6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/>
                        <a:t>위험도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/>
                        <a:t>처리 내용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ko-K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NORMAL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/>
                        <a:t>정상 상태로 판단하고 작업을 생성하지 않음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ko-K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WARNING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/>
                        <a:t>관찰 작업이 필요하다고 판단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ko-K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DANGER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ko-KR" sz="1800"/>
                        <a:t>영양 공급 또는 보식 등 즉시 조치가 필요하다고 판단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79" name="Google Shape;1279;p57"/>
          <p:cNvSpPr txBox="1"/>
          <p:nvPr/>
        </p:nvSpPr>
        <p:spPr>
          <a:xfrm>
            <a:off x="424356" y="1371200"/>
            <a:ext cx="34973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8. 위험도 판단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AI는 각 셀의 상태를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risk_level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기준으로 분류한다.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85" name="Google Shape;1285;p5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6" name="Google Shape;1286;p5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7" name="Google Shape;1287;p58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8" name="Google Shape;1288;p5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4452998" y="1559534"/>
            <a:ext cx="4509374" cy="462753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90" name="Google Shape;1290;p58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58"/>
          <p:cNvSpPr txBox="1"/>
          <p:nvPr/>
        </p:nvSpPr>
        <p:spPr>
          <a:xfrm>
            <a:off x="266602" y="1409153"/>
            <a:ext cx="459343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9. 추천 작업 결정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위험도에 따라 추천 작업을 결정한다.</a:t>
            </a:r>
            <a:endParaRPr/>
          </a:p>
        </p:txBody>
      </p:sp>
      <p:pic>
        <p:nvPicPr>
          <p:cNvPr id="1292" name="Google Shape;1292;p58"/>
          <p:cNvPicPr preferRelativeResize="0"/>
          <p:nvPr/>
        </p:nvPicPr>
        <p:blipFill rotWithShape="1">
          <a:blip>
            <a:alphaModFix/>
          </a:blip>
          <a:srcRect l="35927" t="74614" r="1996" b="719"/>
          <a:stretch/>
        </p:blipFill>
        <p:spPr>
          <a:xfrm>
            <a:off x="266602" y="2420888"/>
            <a:ext cx="4186396" cy="290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58"/>
          <p:cNvSpPr txBox="1"/>
          <p:nvPr/>
        </p:nvSpPr>
        <p:spPr>
          <a:xfrm>
            <a:off x="4480780" y="1647593"/>
            <a:ext cx="4663219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처리 로직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risk_level = NORMAL: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recommended_task = NONE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risk_level = WARNING: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recommended_task = OBSERVE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risk_level = DANGER: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recommended_task = NUTRITION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NORMAL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상태이면 별도 작업 없이 다음 셀 검사 단계로 이동한다.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WARNING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또는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DANGER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상태이면 관리자 승인 요청을 생성한다.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5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99" name="Google Shape;1299;p5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0" name="Google Shape;1300;p5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1" name="Google Shape;1301;p59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2" name="Google Shape;1302;p5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3" name="Google Shape;1303;p59"/>
          <p:cNvSpPr/>
          <p:nvPr/>
        </p:nvSpPr>
        <p:spPr>
          <a:xfrm>
            <a:off x="3538308" y="1473901"/>
            <a:ext cx="5424064" cy="18452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4" name="Google Shape;1304;p59"/>
          <p:cNvSpPr/>
          <p:nvPr/>
        </p:nvSpPr>
        <p:spPr>
          <a:xfrm>
            <a:off x="3538308" y="3588118"/>
            <a:ext cx="5424064" cy="259895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05" name="Google Shape;1305;p5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59"/>
          <p:cNvSpPr txBox="1"/>
          <p:nvPr/>
        </p:nvSpPr>
        <p:spPr>
          <a:xfrm>
            <a:off x="3643437" y="1663640"/>
            <a:ext cx="459343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10. 관리자 승인 요청 생성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AI가 작업을 추천한 경우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approvals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 승인 요청을 생성한다.</a:t>
            </a: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추천 작업은 즉시 실행되지 않고,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PENDING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상태로 관리자 검토를 기다린다.</a:t>
            </a:r>
            <a:endParaRPr/>
          </a:p>
        </p:txBody>
      </p:sp>
      <p:pic>
        <p:nvPicPr>
          <p:cNvPr id="1307" name="Google Shape;1307;p59"/>
          <p:cNvPicPr preferRelativeResize="0"/>
          <p:nvPr/>
        </p:nvPicPr>
        <p:blipFill rotWithShape="1">
          <a:blip>
            <a:alphaModFix/>
          </a:blip>
          <a:srcRect l="25501" t="2021" r="50001" b="78436"/>
          <a:stretch/>
        </p:blipFill>
        <p:spPr>
          <a:xfrm>
            <a:off x="540424" y="1564727"/>
            <a:ext cx="2676399" cy="3728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59"/>
          <p:cNvSpPr txBox="1"/>
          <p:nvPr/>
        </p:nvSpPr>
        <p:spPr>
          <a:xfrm>
            <a:off x="3610316" y="3640956"/>
            <a:ext cx="506614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Approvals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저장 항목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cell_id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ai_reading_id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requested_at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approval_status = PENDING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6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14" name="Google Shape;1314;p6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5" name="Google Shape;1315;p6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6" name="Google Shape;1316;p60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7" name="Google Shape;1317;p6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8" name="Google Shape;1318;p60"/>
          <p:cNvSpPr/>
          <p:nvPr/>
        </p:nvSpPr>
        <p:spPr>
          <a:xfrm>
            <a:off x="3710590" y="1196224"/>
            <a:ext cx="4593430" cy="499084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9" name="Google Shape;1319;p60"/>
          <p:cNvSpPr/>
          <p:nvPr/>
        </p:nvSpPr>
        <p:spPr>
          <a:xfrm>
            <a:off x="539552" y="4984541"/>
            <a:ext cx="2736304" cy="12025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20" name="Google Shape;1320;p60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60"/>
          <p:cNvSpPr txBox="1"/>
          <p:nvPr/>
        </p:nvSpPr>
        <p:spPr>
          <a:xfrm>
            <a:off x="3710590" y="1414459"/>
            <a:ext cx="459343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11. 관리자 승인 결과 처리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관리자는 AI 추천 작업을 승인하거나 거절할 수 있다.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승인 시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승인 상태를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APPROVED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로 저장하고, 로봇 작업을 생성한다.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승인 거절 시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승인 상태를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REJECTED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로 저장하고,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system_events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에 거절 이벤트를 기록한다.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이후 해당 셀의 작업은 종료되고 다음 셀 검사로 이동한다.</a:t>
            </a:r>
            <a:endParaRPr/>
          </a:p>
        </p:txBody>
      </p:sp>
      <p:pic>
        <p:nvPicPr>
          <p:cNvPr id="1322" name="Google Shape;1322;p60"/>
          <p:cNvPicPr preferRelativeResize="0"/>
          <p:nvPr/>
        </p:nvPicPr>
        <p:blipFill rotWithShape="1">
          <a:blip>
            <a:alphaModFix/>
          </a:blip>
          <a:srcRect l="3841" t="8736" r="40466" b="62273"/>
          <a:stretch/>
        </p:blipFill>
        <p:spPr>
          <a:xfrm>
            <a:off x="148719" y="1503161"/>
            <a:ext cx="3301945" cy="300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60"/>
          <p:cNvSpPr txBox="1"/>
          <p:nvPr/>
        </p:nvSpPr>
        <p:spPr>
          <a:xfrm>
            <a:off x="615076" y="5100341"/>
            <a:ext cx="2560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system_events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approvals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29" name="Google Shape;1329;p6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0" name="Google Shape;1330;p6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1" name="Google Shape;1331;p61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2" name="Google Shape;1332;p6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3" name="Google Shape;1333;p61"/>
          <p:cNvSpPr/>
          <p:nvPr/>
        </p:nvSpPr>
        <p:spPr>
          <a:xfrm>
            <a:off x="3779912" y="1196752"/>
            <a:ext cx="5182460" cy="203132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4" name="Google Shape;1334;p61"/>
          <p:cNvSpPr/>
          <p:nvPr/>
        </p:nvSpPr>
        <p:spPr>
          <a:xfrm>
            <a:off x="3779912" y="3341892"/>
            <a:ext cx="5182460" cy="322748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35" name="Google Shape;1335;p6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61"/>
          <p:cNvSpPr txBox="1"/>
          <p:nvPr/>
        </p:nvSpPr>
        <p:spPr>
          <a:xfrm>
            <a:off x="3851920" y="1253659"/>
            <a:ext cx="459343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12. 로봇 작업 생성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관리자가 승인한 작업은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robot_tasks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 저장된다.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작업명은 AI 추천 결과에 따라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OBSERVE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또는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NUTRITION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으로 설정된다.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7" name="Google Shape;1337;p61"/>
          <p:cNvSpPr txBox="1"/>
          <p:nvPr/>
        </p:nvSpPr>
        <p:spPr>
          <a:xfrm>
            <a:off x="3729853" y="3415813"/>
            <a:ext cx="262199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robot_tasks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8" name="Google Shape;1338;p61"/>
          <p:cNvSpPr txBox="1"/>
          <p:nvPr/>
        </p:nvSpPr>
        <p:spPr>
          <a:xfrm>
            <a:off x="6122892" y="3430057"/>
            <a:ext cx="232245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저장 항목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cell_id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approval_id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task_name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control_state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state_machine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progress_rate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robot_status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command_payload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created_at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39" name="Google Shape;1339;p61"/>
          <p:cNvPicPr preferRelativeResize="0"/>
          <p:nvPr/>
        </p:nvPicPr>
        <p:blipFill rotWithShape="1">
          <a:blip>
            <a:alphaModFix/>
          </a:blip>
          <a:srcRect l="36586" t="23579" r="14973" b="54280"/>
          <a:stretch/>
        </p:blipFill>
        <p:spPr>
          <a:xfrm>
            <a:off x="323528" y="2153158"/>
            <a:ext cx="3312368" cy="2643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45" name="Google Shape;1345;p6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6" name="Google Shape;1346;p6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7" name="Google Shape;1347;p62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48" name="Google Shape;1348;p6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49" name="Google Shape;1349;p62"/>
          <p:cNvSpPr/>
          <p:nvPr/>
        </p:nvSpPr>
        <p:spPr>
          <a:xfrm>
            <a:off x="4139952" y="1484784"/>
            <a:ext cx="4646104" cy="200937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0" name="Google Shape;1350;p62"/>
          <p:cNvSpPr/>
          <p:nvPr/>
        </p:nvSpPr>
        <p:spPr>
          <a:xfrm>
            <a:off x="4172252" y="3707333"/>
            <a:ext cx="4646104" cy="190367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51" name="Google Shape;1351;p6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2"/>
          <p:cNvSpPr txBox="1"/>
          <p:nvPr/>
        </p:nvSpPr>
        <p:spPr>
          <a:xfrm>
            <a:off x="4139952" y="1579007"/>
            <a:ext cx="459343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13. 로봇 작업 수행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로봇은 생성된 작업 명령을 기준으로 대상 셀로 이동하여 작업을 수행한다.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작업 종류에 따라 관찰, 영양 공급, 보식 관련 동작을 실행한다.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53" name="Google Shape;1353;p62"/>
          <p:cNvPicPr preferRelativeResize="0"/>
          <p:nvPr/>
        </p:nvPicPr>
        <p:blipFill rotWithShape="1">
          <a:blip>
            <a:alphaModFix/>
          </a:blip>
          <a:srcRect l="36586" t="23579" r="14973" b="54280"/>
          <a:stretch/>
        </p:blipFill>
        <p:spPr>
          <a:xfrm>
            <a:off x="323528" y="2132856"/>
            <a:ext cx="3312368" cy="2643994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62"/>
          <p:cNvSpPr txBox="1"/>
          <p:nvPr/>
        </p:nvSpPr>
        <p:spPr>
          <a:xfrm>
            <a:off x="4174017" y="3920507"/>
            <a:ext cx="485242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작업 예시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OBSERVE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셀 상태 재촬영 및 재측정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NUTRITION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영양 공급 또는 생장 보조 작업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ESTOP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비상 정지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6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60" name="Google Shape;1360;p6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1" name="Google Shape;1361;p6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2" name="Google Shape;1362;p63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3" name="Google Shape;1363;p6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4" name="Google Shape;1364;p63"/>
          <p:cNvSpPr/>
          <p:nvPr/>
        </p:nvSpPr>
        <p:spPr>
          <a:xfrm>
            <a:off x="3633780" y="1473901"/>
            <a:ext cx="5328592" cy="19550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5" name="Google Shape;1365;p63"/>
          <p:cNvSpPr/>
          <p:nvPr/>
        </p:nvSpPr>
        <p:spPr>
          <a:xfrm>
            <a:off x="3635895" y="3546883"/>
            <a:ext cx="5328593" cy="264113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66" name="Google Shape;1366;p63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63"/>
          <p:cNvSpPr txBox="1"/>
          <p:nvPr/>
        </p:nvSpPr>
        <p:spPr>
          <a:xfrm>
            <a:off x="6156176" y="3573016"/>
            <a:ext cx="220841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저장 항목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task_id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cell_id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reported_at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progress_rate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temperature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humidity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sap_amount_ml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robot_status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68" name="Google Shape;1368;p63"/>
          <p:cNvPicPr preferRelativeResize="0"/>
          <p:nvPr/>
        </p:nvPicPr>
        <p:blipFill rotWithShape="1">
          <a:blip>
            <a:alphaModFix/>
          </a:blip>
          <a:srcRect l="2513" t="8927" r="2403" b="38476"/>
          <a:stretch/>
        </p:blipFill>
        <p:spPr>
          <a:xfrm>
            <a:off x="207966" y="1988839"/>
            <a:ext cx="3279795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63"/>
          <p:cNvSpPr txBox="1"/>
          <p:nvPr/>
        </p:nvSpPr>
        <p:spPr>
          <a:xfrm>
            <a:off x="3707904" y="1556792"/>
            <a:ext cx="494029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14. 로봇 피드백 저장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로봇 작업 중 발생하는 진행률, 상태, 센서값은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robot_feedback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테이블에 저장한다.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작업이 진행 중이면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progress_rate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를 갱신하고, 작업 상태를 지속적으로 기록한다.</a:t>
            </a:r>
            <a:endParaRPr/>
          </a:p>
        </p:txBody>
      </p:sp>
      <p:sp>
        <p:nvSpPr>
          <p:cNvPr id="1370" name="Google Shape;1370;p63"/>
          <p:cNvSpPr txBox="1"/>
          <p:nvPr/>
        </p:nvSpPr>
        <p:spPr>
          <a:xfrm>
            <a:off x="3707904" y="3573015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robot_feedback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76" name="Google Shape;1376;p6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7" name="Google Shape;1377;p6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8" name="Google Shape;1378;p64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9" name="Google Shape;1379;p6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0" name="Google Shape;1380;p64"/>
          <p:cNvSpPr/>
          <p:nvPr/>
        </p:nvSpPr>
        <p:spPr>
          <a:xfrm>
            <a:off x="3867690" y="1468406"/>
            <a:ext cx="4952782" cy="213029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1" name="Google Shape;1381;p64"/>
          <p:cNvSpPr/>
          <p:nvPr/>
        </p:nvSpPr>
        <p:spPr>
          <a:xfrm>
            <a:off x="3851920" y="3663446"/>
            <a:ext cx="5110452" cy="252362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82" name="Google Shape;1382;p64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64"/>
          <p:cNvSpPr txBox="1"/>
          <p:nvPr/>
        </p:nvSpPr>
        <p:spPr>
          <a:xfrm>
            <a:off x="3851920" y="1484784"/>
            <a:ext cx="459343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15. 작업 완료 처리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로봇 작업이 완료되면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robot_tasks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의 상태를 완료 단계로 변경하고, 완료 시간을 저장한다.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필요 시 </a:t>
            </a: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system_events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에 작업 완료 이벤트를 기록한다.</a:t>
            </a:r>
            <a:endParaRPr/>
          </a:p>
        </p:txBody>
      </p:sp>
      <p:pic>
        <p:nvPicPr>
          <p:cNvPr id="1384" name="Google Shape;1384;p64"/>
          <p:cNvPicPr preferRelativeResize="0"/>
          <p:nvPr/>
        </p:nvPicPr>
        <p:blipFill rotWithShape="1">
          <a:blip>
            <a:alphaModFix/>
          </a:blip>
          <a:srcRect l="5908" t="48228" r="28681" b="17340"/>
          <a:stretch/>
        </p:blipFill>
        <p:spPr>
          <a:xfrm>
            <a:off x="424355" y="1628801"/>
            <a:ext cx="3211541" cy="29523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64"/>
          <p:cNvSpPr txBox="1"/>
          <p:nvPr/>
        </p:nvSpPr>
        <p:spPr>
          <a:xfrm>
            <a:off x="3851920" y="3645024"/>
            <a:ext cx="462607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테이블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robot_tasks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system_events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처리 내용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state_machine = COMPLETE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progress_rate = 100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completed_at = current_time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save system_events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6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91" name="Google Shape;1391;p6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2" name="Google Shape;1392;p6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3" name="Google Shape;1393;p65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알고리즘 상세 설명서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4" name="Google Shape;1394;p6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5" name="Google Shape;1395;p65"/>
          <p:cNvSpPr/>
          <p:nvPr/>
        </p:nvSpPr>
        <p:spPr>
          <a:xfrm>
            <a:off x="3995936" y="1340768"/>
            <a:ext cx="4662905" cy="483541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96" name="Google Shape;1396;p6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65"/>
          <p:cNvSpPr txBox="1"/>
          <p:nvPr/>
        </p:nvSpPr>
        <p:spPr>
          <a:xfrm>
            <a:off x="4067944" y="1412776"/>
            <a:ext cx="459343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16. 다음 측정 주기 반복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현재 셀의 처리가 완료되면 다음 셀을 검사한다.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1번부터 4번까지 모든 셀의 순회가 완료되면 전체 상태를 저장하고, 다음 측정 주기까지 대기한다.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8" name="Google Shape;1398;p65"/>
          <p:cNvSpPr txBox="1"/>
          <p:nvPr/>
        </p:nvSpPr>
        <p:spPr>
          <a:xfrm>
            <a:off x="4139952" y="3717032"/>
            <a:ext cx="459166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처리 내용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next_cell exists: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move to next cell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ko-K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wait until next monitoring cycle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99" name="Google Shape;1399;p65"/>
          <p:cNvPicPr preferRelativeResize="0"/>
          <p:nvPr/>
        </p:nvPicPr>
        <p:blipFill rotWithShape="1">
          <a:blip>
            <a:alphaModFix/>
          </a:blip>
          <a:srcRect l="5908" t="48229" r="28681" b="1975"/>
          <a:stretch/>
        </p:blipFill>
        <p:spPr>
          <a:xfrm>
            <a:off x="424355" y="1628800"/>
            <a:ext cx="3211541" cy="4269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4" name="Google Shape;1404;p66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405" name="Google Shape;1405;p6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6" name="Google Shape;1406;p6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07" name="Google Shape;1407;p66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8" name="Google Shape;1408;p66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9" name="Google Shape;1409;p6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0" name="Google Shape;1410;p66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1" name="Google Shape;1411;p66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2" name="Google Shape;1412;p66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3" name="Google Shape;1413;p6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4" name="Google Shape;1414;p66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415" name="Google Shape;1415;p66"/>
          <p:cNvPicPr preferRelativeResize="0"/>
          <p:nvPr/>
        </p:nvPicPr>
        <p:blipFill rotWithShape="1">
          <a:blip>
            <a:alphaModFix/>
          </a:blip>
          <a:srcRect l="31818" t="9091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66"/>
          <p:cNvSpPr/>
          <p:nvPr/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7" name="Google Shape;1417;p66"/>
          <p:cNvSpPr/>
          <p:nvPr/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dk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18" name="Google Shape;1418;p66"/>
          <p:cNvCxnSpPr/>
          <p:nvPr/>
        </p:nvCxnSpPr>
        <p:spPr>
          <a:xfrm>
            <a:off x="7028259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9" name="Google Shape;1419;p66"/>
          <p:cNvCxnSpPr/>
          <p:nvPr/>
        </p:nvCxnSpPr>
        <p:spPr>
          <a:xfrm flipH="1">
            <a:off x="5568950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0" name="Google Shape;1420;p66"/>
          <p:cNvSpPr/>
          <p:nvPr/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1" name="Google Shape;1421;p66"/>
          <p:cNvSpPr/>
          <p:nvPr/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2" name="Google Shape;1422;p66"/>
          <p:cNvSpPr/>
          <p:nvPr/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3" name="Google Shape;1423;p66"/>
          <p:cNvSpPr txBox="1"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</a:pPr>
            <a:r>
              <a:rPr lang="ko-KR" sz="3400"/>
              <a:t>사용자 인터페이스 설계 </a:t>
            </a:r>
            <a:br>
              <a:rPr lang="ko-KR" sz="3400"/>
            </a:br>
            <a:r>
              <a:rPr lang="ko-KR" sz="3400"/>
              <a:t>(User Interface design)</a:t>
            </a:r>
            <a:endParaRPr/>
          </a:p>
        </p:txBody>
      </p:sp>
      <p:sp>
        <p:nvSpPr>
          <p:cNvPr id="1424" name="Google Shape;1424;p66"/>
          <p:cNvSpPr txBox="1">
            <a:spLocks noGrp="1"/>
          </p:cNvSpPr>
          <p:nvPr>
            <p:ph type="ftr" idx="11"/>
          </p:nvPr>
        </p:nvSpPr>
        <p:spPr>
          <a:xfrm>
            <a:off x="3069300" y="6041362"/>
            <a:ext cx="3016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  <p:sp>
        <p:nvSpPr>
          <p:cNvPr id="1425" name="Google Shape;1425;p66"/>
          <p:cNvSpPr/>
          <p:nvPr/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4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6" name="Google Shape;1426;p66"/>
          <p:cNvSpPr/>
          <p:nvPr/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7" name="Google Shape;1427;p66"/>
          <p:cNvSpPr/>
          <p:nvPr/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98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8" name="Google Shape;1428;p66"/>
          <p:cNvSpPr/>
          <p:nvPr/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6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34" name="Google Shape;1434;p6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5" name="Google Shape;1435;p6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36" name="Google Shape;1436;p67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6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38" name="Google Shape;1438;p67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67"/>
          <p:cNvSpPr txBox="1"/>
          <p:nvPr/>
        </p:nvSpPr>
        <p:spPr>
          <a:xfrm>
            <a:off x="323528" y="692697"/>
            <a:ext cx="2844000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화면 설계서 – </a:t>
            </a:r>
            <a:r>
              <a:rPr lang="ko-KR" sz="10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전체 메인 프로그램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40" name="Google Shape;1440;p67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15516" y="1408276"/>
            <a:ext cx="8712968" cy="4901044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67"/>
          <p:cNvSpPr txBox="1"/>
          <p:nvPr/>
        </p:nvSpPr>
        <p:spPr>
          <a:xfrm>
            <a:off x="4418099" y="4812630"/>
            <a:ext cx="4587240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 디스플레이는 </a:t>
            </a: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식물공장 내부 환경과 셀 상태를 한눈에 확인할 수 있는 요약 대시보드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입니다.</a:t>
            </a:r>
            <a:b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관리자는 이를 통해 </a:t>
            </a: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전체 식물공장의 운영 상태와 이상 여부를 빠르게 파악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할 수 있습니다.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6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47" name="Google Shape;1447;p6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8" name="Google Shape;1448;p6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9" name="Google Shape;1449;p68"/>
          <p:cNvSpPr txBox="1"/>
          <p:nvPr/>
        </p:nvSpPr>
        <p:spPr>
          <a:xfrm>
            <a:off x="323528" y="692696"/>
            <a:ext cx="2880320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화면 설계서 – </a:t>
            </a:r>
            <a:r>
              <a:rPr lang="ko-KR" sz="14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사용자 인터페이스</a:t>
            </a:r>
            <a:endParaRPr sz="14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0" name="Google Shape;1450;p6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51" name="Google Shape;1451;p68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68"/>
          <p:cNvPicPr preferRelativeResize="0"/>
          <p:nvPr/>
        </p:nvPicPr>
        <p:blipFill rotWithShape="1">
          <a:blip>
            <a:alphaModFix/>
          </a:blip>
          <a:srcRect l="55623"/>
          <a:stretch/>
        </p:blipFill>
        <p:spPr>
          <a:xfrm>
            <a:off x="232804" y="1306643"/>
            <a:ext cx="3849152" cy="270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68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13612" y="4183574"/>
            <a:ext cx="2190236" cy="224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68"/>
          <p:cNvSpPr txBox="1"/>
          <p:nvPr/>
        </p:nvSpPr>
        <p:spPr>
          <a:xfrm>
            <a:off x="4454443" y="4437112"/>
            <a:ext cx="4572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2.우선순위 관리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위험도가 높은 셀을 자동 정렬하거나 상단에 고정할 수 있습니다. 현재 화면에서는 셀 3이 가장 높은 우선 점검 대상입니다.</a:t>
            </a:r>
            <a:endParaRPr/>
          </a:p>
        </p:txBody>
      </p:sp>
      <p:sp>
        <p:nvSpPr>
          <p:cNvPr id="1455" name="Google Shape;1455;p68"/>
          <p:cNvSpPr txBox="1"/>
          <p:nvPr/>
        </p:nvSpPr>
        <p:spPr>
          <a:xfrm>
            <a:off x="4474867" y="2237280"/>
            <a:ext cx="470916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1.실시간 온습도 모니터링</a:t>
            </a:r>
            <a:b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각 식물 셀의 온도와 습도 변화를 그래프로 확인합니다.</a:t>
            </a:r>
            <a:endParaRPr sz="1800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6" name="Google Shape;1456;p68"/>
          <p:cNvSpPr txBox="1"/>
          <p:nvPr/>
        </p:nvSpPr>
        <p:spPr>
          <a:xfrm>
            <a:off x="4454443" y="1437911"/>
            <a:ext cx="1949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주요기능설명 </a:t>
            </a:r>
            <a:endParaRPr sz="1800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6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62" name="Google Shape;1462;p6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3" name="Google Shape;1463;p6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4" name="Google Shape;1464;p69"/>
          <p:cNvSpPr txBox="1"/>
          <p:nvPr/>
        </p:nvSpPr>
        <p:spPr>
          <a:xfrm>
            <a:off x="323528" y="692697"/>
            <a:ext cx="2844000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ko-KR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화면 설계서 - </a:t>
            </a:r>
            <a:r>
              <a:rPr lang="ko-KR" sz="14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사용자 인터페이스</a:t>
            </a:r>
            <a:endParaRPr sz="14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5" name="Google Shape;1465;p6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66" name="Google Shape;1466;p6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69"/>
          <p:cNvPicPr preferRelativeResize="0"/>
          <p:nvPr/>
        </p:nvPicPr>
        <p:blipFill rotWithShape="1">
          <a:blip>
            <a:alphaModFix/>
          </a:blip>
          <a:srcRect r="44830"/>
          <a:stretch/>
        </p:blipFill>
        <p:spPr>
          <a:xfrm>
            <a:off x="402364" y="1845481"/>
            <a:ext cx="4035032" cy="228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69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88468" y="4824787"/>
            <a:ext cx="4048928" cy="419594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69"/>
          <p:cNvSpPr txBox="1"/>
          <p:nvPr/>
        </p:nvSpPr>
        <p:spPr>
          <a:xfrm>
            <a:off x="4692480" y="2249079"/>
            <a:ext cx="398374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3. 각 실물 셀 인터페이스 기능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각 셀 카드는 개별 재배 구역의 상태를 한눈에 확인하는 단위 UI입니다.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 b="1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0" name="Google Shape;1470;p69"/>
          <p:cNvSpPr txBox="1"/>
          <p:nvPr/>
        </p:nvSpPr>
        <p:spPr>
          <a:xfrm>
            <a:off x="4660120" y="4572919"/>
            <a:ext cx="40489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4.현재 운영 중인 </a:t>
            </a: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셀 수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경고 발생 수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보류 중인 작업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평균 온도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 리스크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를 실시간으로 표시합니다.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76" name="Google Shape;1476;p70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7" name="Google Shape;1477;p70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8" name="Google Shape;1478;p70"/>
          <p:cNvSpPr txBox="1"/>
          <p:nvPr/>
        </p:nvSpPr>
        <p:spPr>
          <a:xfrm>
            <a:off x="323528" y="692697"/>
            <a:ext cx="2844000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ko-KR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화면 설계서 - </a:t>
            </a:r>
            <a:r>
              <a:rPr lang="ko-KR" sz="14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사용자 인터페이스</a:t>
            </a:r>
            <a:endParaRPr sz="14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9" name="Google Shape;1479;p70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80" name="Google Shape;1480;p70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1" name="Google Shape;1481;p70"/>
          <p:cNvPicPr preferRelativeResize="0"/>
          <p:nvPr/>
        </p:nvPicPr>
        <p:blipFill rotWithShape="1">
          <a:blip>
            <a:alphaModFix/>
          </a:blip>
          <a:srcRect l="18120" t="28252" r="-2485" b="7000"/>
          <a:stretch/>
        </p:blipFill>
        <p:spPr>
          <a:xfrm>
            <a:off x="467544" y="2564904"/>
            <a:ext cx="1296144" cy="648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70"/>
          <p:cNvPicPr preferRelativeResize="0"/>
          <p:nvPr/>
        </p:nvPicPr>
        <p:blipFill rotWithShape="1">
          <a:blip>
            <a:alphaModFix/>
          </a:blip>
          <a:srcRect l="14999" t="23798" r="2510" b="11995"/>
          <a:stretch/>
        </p:blipFill>
        <p:spPr>
          <a:xfrm>
            <a:off x="2051720" y="2586560"/>
            <a:ext cx="1501270" cy="57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p70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23528" y="3161546"/>
            <a:ext cx="1539373" cy="129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70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051720" y="3161546"/>
            <a:ext cx="1501270" cy="12345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70"/>
          <p:cNvSpPr txBox="1"/>
          <p:nvPr/>
        </p:nvSpPr>
        <p:spPr>
          <a:xfrm>
            <a:off x="4377394" y="1916832"/>
            <a:ext cx="4043904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5.AI 모드 ON/OFF 기능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은 관리자가 AI 자동 판단 사용 여부를 선택하는 기능입니다.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 b="1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AI 모드 ON</a:t>
            </a:r>
            <a:b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센서값이 임계값을 초과하면 AI가 자동으로 상태를 분석하고, 위험도와 추천 작업을 판단합니다.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 b="1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AI 모드 OFF</a:t>
            </a:r>
            <a:b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AI 자동 판단을 사용하지 않고, 관리자가 직접 셀 상태를 확인해 작업 여부를 결정합니다.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91" name="Google Shape;1491;p7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2" name="Google Shape;1492;p7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3" name="Google Shape;1493;p71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메뉴 구성도 관리자 페이지</a:t>
            </a:r>
            <a:endParaRPr sz="1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4" name="Google Shape;1494;p7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95" name="Google Shape;1495;p7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71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46221" y="1477303"/>
            <a:ext cx="8718267" cy="49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71"/>
          <p:cNvSpPr txBox="1"/>
          <p:nvPr/>
        </p:nvSpPr>
        <p:spPr>
          <a:xfrm>
            <a:off x="3275856" y="623134"/>
            <a:ext cx="52451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이 디스플레이는 </a:t>
            </a:r>
            <a:r>
              <a:rPr lang="ko-KR" sz="1800" b="1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식물공장 내부 환경과 셀 상태를 한눈에 확인할 수 있는 요약 대시보드</a:t>
            </a:r>
            <a:r>
              <a:rPr lang="ko-KR" sz="18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입니다</a:t>
            </a: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7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03" name="Google Shape;1503;p7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4" name="Google Shape;1504;p7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5" name="Google Shape;1505;p72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관리자 페이지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6" name="Google Shape;1506;p7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07" name="Google Shape;1507;p7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72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36456" y="1579931"/>
            <a:ext cx="4016088" cy="4038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9" name="Google Shape;1509;p72"/>
          <p:cNvGraphicFramePr/>
          <p:nvPr/>
        </p:nvGraphicFramePr>
        <p:xfrm>
          <a:off x="323528" y="2103322"/>
          <a:ext cx="4379550" cy="399228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14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탭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기능 설명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 b="1">
                          <a:solidFill>
                            <a:srgbClr val="FAF1D1"/>
                          </a:solidFill>
                        </a:rPr>
                        <a:t>Sensor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온도, 습도, 수액량 등 셀별 실시간 센서값을 확인합니다.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 b="1">
                          <a:solidFill>
                            <a:srgbClr val="FAF1D1"/>
                          </a:solidFill>
                        </a:rPr>
                        <a:t>AI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AI가 분석한 위험도, 병해충 가능성, 추천 작업 결과를 확인합니다.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 b="1">
                          <a:solidFill>
                            <a:srgbClr val="FAF1D1"/>
                          </a:solidFill>
                        </a:rPr>
                        <a:t>Robot Tasks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로봇이 수행 중이거나 대기 중인 작업 상태를 확인합니다.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 b="1">
                          <a:solidFill>
                            <a:srgbClr val="FAF1D1"/>
                          </a:solidFill>
                        </a:rPr>
                        <a:t>Feedback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로봇 작업 결과와 AI 재학습에 활용되는 피드백 데이터를 확인합니다.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 b="1">
                          <a:solidFill>
                            <a:srgbClr val="FAF1D1"/>
                          </a:solidFill>
                        </a:rPr>
                        <a:t>Events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>
                          <a:solidFill>
                            <a:srgbClr val="FAF1D1"/>
                          </a:solidFill>
                        </a:rPr>
                        <a:t>AI 모드 변경, 로봇 작업 요청, 오류 발생, 관리자 조작 등 주요 운영 이벤트를 시간순으로 기록합니다.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 b="1">
                          <a:solidFill>
                            <a:srgbClr val="FAF1D1"/>
                          </a:solidFill>
                        </a:rPr>
                        <a:t>Thresholds</a:t>
                      </a:r>
                      <a:endParaRPr sz="1300">
                        <a:solidFill>
                          <a:srgbClr val="FAF1D1"/>
                        </a:solidFill>
                      </a:endParaRPr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1D1"/>
                        </a:buClr>
                        <a:buSzPts val="1300"/>
                        <a:buFont typeface="Trebuchet MS"/>
                        <a:buNone/>
                      </a:pPr>
                      <a:r>
                        <a:rPr lang="ko-KR" sz="1300">
                          <a:solidFill>
                            <a:srgbClr val="FAF1D1"/>
                          </a:solidFill>
                        </a:rPr>
                        <a:t>온도, 습도, 병해충 확률, 수액량 등의 임계값을 설정하고 관리합니다.</a:t>
                      </a:r>
                      <a:endParaRPr/>
                    </a:p>
                  </a:txBody>
                  <a:tcPr marL="66925" marR="66925" marT="33450" marB="33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10" name="Google Shape;1510;p72"/>
          <p:cNvSpPr txBox="1"/>
          <p:nvPr/>
        </p:nvSpPr>
        <p:spPr>
          <a:xfrm>
            <a:off x="336456" y="1174227"/>
            <a:ext cx="45872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DB 기반 운영 데이터 관리 탭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1" name="Google Shape;1511;p72"/>
          <p:cNvSpPr txBox="1"/>
          <p:nvPr/>
        </p:nvSpPr>
        <p:spPr>
          <a:xfrm>
            <a:off x="4788024" y="2103322"/>
            <a:ext cx="4032448" cy="397031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이 관리자 페이지는 식물공장 내에서 발생하는 모든 운영 데이터를 DB에서 불러와 통합 관리하는 화면입니다.</a:t>
            </a:r>
            <a:endParaRPr sz="1800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b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관리자는 각 탭을 통해 셀별 상태, 환경 데이터, AI 판단 결과, 로봇 작업 현황, 이벤트 발생 이력, 임계값 설정 정보를 한눈에 확인하고 관리할 수 있습니다.</a:t>
            </a:r>
            <a:endParaRPr sz="1800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이를 통해 식물공장의 이상 상태를 빠르게 감지하고, 필요한 작업을 즉시 판단하여 안정적인 생장 환경과 운영 효율을 유지할 수 있습니다.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7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17" name="Google Shape;1517;p7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8" name="Google Shape;1518;p7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9" name="Google Shape;1519;p73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관리자 페이지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0" name="Google Shape;1520;p7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1" name="Google Shape;1521;p73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p73"/>
          <p:cNvPicPr preferRelativeResize="0"/>
          <p:nvPr/>
        </p:nvPicPr>
        <p:blipFill rotWithShape="1">
          <a:blip>
            <a:alphaModFix/>
          </a:blip>
          <a:srcRect r="82371" b="11773"/>
          <a:stretch/>
        </p:blipFill>
        <p:spPr>
          <a:xfrm>
            <a:off x="161410" y="1268549"/>
            <a:ext cx="1783153" cy="89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p73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61410" y="2166038"/>
            <a:ext cx="8742526" cy="9983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4" name="Google Shape;1524;p73"/>
          <p:cNvGraphicFramePr/>
          <p:nvPr/>
        </p:nvGraphicFramePr>
        <p:xfrm>
          <a:off x="971600" y="3429000"/>
          <a:ext cx="6708200" cy="300910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71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id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센서 로그의 고유 번호입니다.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cell_name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측정 대상 셀 이름입니다. 예: Cell 1 ~ Cell 4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measured_at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센서값이 측정된 시간입니다.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temperature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해당 셀의 온도 측정값입니다.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humidity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해당 셀의 습도 측정값입니다.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sap_amount_ml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식물에 공급되거나 측정된 수액량입니다.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growth_rate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해당 셀 식물의 성장률입니다.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3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>
                          <a:solidFill>
                            <a:srgbClr val="0C0C0C"/>
                          </a:solidFill>
                        </a:rPr>
                        <a:t>env_warning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>
                          <a:solidFill>
                            <a:srgbClr val="0C0C0C"/>
                          </a:solidFill>
                        </a:rPr>
                        <a:t>환경 상태 판단 결과입니다. NORMAL이면 정상 상태를 의미합니다.</a:t>
                      </a:r>
                      <a:endParaRPr/>
                    </a:p>
                  </a:txBody>
                  <a:tcPr marL="80875" marR="80875" marT="40425" marB="40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25" name="Google Shape;1525;p73"/>
          <p:cNvSpPr txBox="1"/>
          <p:nvPr/>
        </p:nvSpPr>
        <p:spPr>
          <a:xfrm>
            <a:off x="2123728" y="1375902"/>
            <a:ext cx="45872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온도, 습도, 수액량 등 셀별 실시간 센서값을 확인합니다.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7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31" name="Google Shape;1531;p7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2" name="Google Shape;1532;p7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3" name="Google Shape;1533;p74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관리자 페이지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4" name="Google Shape;1534;p7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5" name="Google Shape;1535;p74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74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23528" y="1351738"/>
            <a:ext cx="748734" cy="62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74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23528" y="1980140"/>
            <a:ext cx="8610650" cy="2098345"/>
          </a:xfrm>
          <a:prstGeom prst="rect">
            <a:avLst/>
          </a:prstGeom>
          <a:solidFill>
            <a:srgbClr val="0C1522"/>
          </a:solidFill>
          <a:ln>
            <a:noFill/>
          </a:ln>
        </p:spPr>
      </p:pic>
      <p:sp>
        <p:nvSpPr>
          <p:cNvPr id="1538" name="Google Shape;1538;p74"/>
          <p:cNvSpPr txBox="1"/>
          <p:nvPr/>
        </p:nvSpPr>
        <p:spPr>
          <a:xfrm>
            <a:off x="1372736" y="1303969"/>
            <a:ext cx="45872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AI가 분석한 위험도, 병해충 가능성, 추천 작업 결과를 확인합니다.</a:t>
            </a:r>
            <a:endParaRPr/>
          </a:p>
        </p:txBody>
      </p:sp>
      <p:graphicFrame>
        <p:nvGraphicFramePr>
          <p:cNvPr id="1539" name="Google Shape;1539;p74"/>
          <p:cNvGraphicFramePr/>
          <p:nvPr/>
        </p:nvGraphicFramePr>
        <p:xfrm>
          <a:off x="827584" y="3193246"/>
          <a:ext cx="6912750" cy="348125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46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id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AI 분석 결과의 고유 번호입니다.</a:t>
                      </a:r>
                      <a:endParaRPr/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cell_name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AI가 분석한 대상 셀 이름입니다. 예: Cell 1 ~ Cell 4</a:t>
                      </a:r>
                      <a:endParaRPr/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detected_at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AI 분석이 수행되거나 이상 상태가 감지된 시간입니다.</a:t>
                      </a:r>
                      <a:endParaRPr/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ai_mode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AI가 판단한 관리 모드입니다. 예: 관찰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OBSERVE</a:t>
                      </a: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, 영양 공급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NUTRITION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disease_area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이상이 감지된 식물 부위입니다. 예: 잎, 뿌리, 줄기, 열매</a:t>
                      </a:r>
                      <a:endParaRPr/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disease_name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감지된 문제 유형입니다. 예: 정상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NORMAL</a:t>
                      </a: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, 성장 문제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growth_issue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disease_probability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병해충 또는 성장 이상 발생 가능성을 수치로 나타낸 값입니다.</a:t>
                      </a:r>
                      <a:endParaRPr/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risk_level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AI가 판단한 위험도입니다. 예: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NORMAL</a:t>
                      </a: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,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WARNING</a:t>
                      </a: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,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DANGER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 b="1">
                          <a:solidFill>
                            <a:srgbClr val="0C0C0C"/>
                          </a:solidFill>
                        </a:rPr>
                        <a:t>recommended_task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Trebuchet MS"/>
                        <a:buNone/>
                      </a:pP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AI 분석 결과에 따라 추천되는 작업입니다. 예: 없음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, 영양 공급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NUTRITION</a:t>
                      </a:r>
                      <a:r>
                        <a:rPr lang="ko-KR" sz="900">
                          <a:solidFill>
                            <a:srgbClr val="0C0C0C"/>
                          </a:solidFill>
                        </a:rPr>
                        <a:t>, 관찰 </a:t>
                      </a:r>
                      <a:r>
                        <a:rPr lang="ko-KR" sz="900">
                          <a:solidFill>
                            <a:srgbClr val="0C0C0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OBSERVE</a:t>
                      </a:r>
                      <a:endParaRPr sz="900">
                        <a:solidFill>
                          <a:srgbClr val="0C0C0C"/>
                        </a:solidFill>
                      </a:endParaRPr>
                    </a:p>
                  </a:txBody>
                  <a:tcPr marL="45675" marR="45675" marT="22825" marB="228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75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45" name="Google Shape;1545;p75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6" name="Google Shape;1546;p75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7" name="Google Shape;1547;p75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관리자 페이지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8" name="Google Shape;1548;p75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49" name="Google Shape;1549;p7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7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23528" y="1291658"/>
            <a:ext cx="1584176" cy="59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75"/>
          <p:cNvPicPr preferRelativeResize="0"/>
          <p:nvPr/>
        </p:nvPicPr>
        <p:blipFill rotWithShape="1">
          <a:blip>
            <a:alphaModFix/>
          </a:blip>
          <a:srcRect b="23394"/>
          <a:stretch/>
        </p:blipFill>
        <p:spPr>
          <a:xfrm>
            <a:off x="323528" y="1885298"/>
            <a:ext cx="7920880" cy="75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75"/>
          <p:cNvSpPr txBox="1"/>
          <p:nvPr/>
        </p:nvSpPr>
        <p:spPr>
          <a:xfrm>
            <a:off x="1799692" y="1231482"/>
            <a:ext cx="45872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로봇이 수행 중이거나 대기 중인 작업 상태를 확인합니다.</a:t>
            </a:r>
            <a:endParaRPr/>
          </a:p>
        </p:txBody>
      </p:sp>
      <p:graphicFrame>
        <p:nvGraphicFramePr>
          <p:cNvPr id="1553" name="Google Shape;1553;p75"/>
          <p:cNvGraphicFramePr/>
          <p:nvPr/>
        </p:nvGraphicFramePr>
        <p:xfrm>
          <a:off x="968131" y="2852936"/>
          <a:ext cx="6599325" cy="3635025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15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id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로봇 작업의 고유 번호입니다.</a:t>
                      </a:r>
                      <a:endParaRPr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cell_name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작업 대상 셀 이름입니다.</a:t>
                      </a:r>
                      <a:endParaRPr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task_name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로봇이 수행할 작업 종류입니다. 예: </a:t>
                      </a:r>
                      <a:r>
                        <a:rPr lang="ko-K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NUTRITION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control_state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작업 제어 상태입니다. 예: </a:t>
                      </a:r>
                      <a:r>
                        <a:rPr lang="ko-K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</a:t>
                      </a:r>
                      <a:r>
                        <a:rPr lang="ko-KR" sz="1200"/>
                        <a:t>이면 작업 실행 상태를 의미합니다.</a:t>
                      </a:r>
                      <a:endParaRPr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state_machine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로봇 작업의 현재 처리 단계입니다. 예: </a:t>
                      </a:r>
                      <a:r>
                        <a:rPr lang="ko-K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EXECUTE_TASK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progress_rate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작업 진행률입니다. 0부터 100까지의 값으로 표시할 수 있습니다.</a:t>
                      </a:r>
                      <a:endParaRPr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robot_status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로봇 명령 전송 및 처리 상태입니다. 예: </a:t>
                      </a:r>
                      <a:r>
                        <a:rPr lang="ko-K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COMMAND_SENT</a:t>
                      </a:r>
                      <a:r>
                        <a:rPr lang="ko-KR" sz="1200"/>
                        <a:t>, </a:t>
                      </a:r>
                      <a:r>
                        <a:rPr lang="ko-K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SENT_TO_ROBOT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 b="1"/>
                        <a:t>created_at</a:t>
                      </a:r>
                      <a:endParaRPr sz="1200"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ko-KR" sz="1200"/>
                        <a:t>로봇 작업이 생성된 시간입니다.</a:t>
                      </a:r>
                      <a:endParaRPr/>
                    </a:p>
                  </a:txBody>
                  <a:tcPr marL="61600" marR="61600" marT="30800" marB="308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7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59" name="Google Shape;1559;p76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0" name="Google Shape;1560;p76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1" name="Google Shape;1561;p76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관리자 페이지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2" name="Google Shape;1562;p76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63" name="Google Shape;1563;p76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76"/>
          <p:cNvPicPr preferRelativeResize="0"/>
          <p:nvPr/>
        </p:nvPicPr>
        <p:blipFill rotWithShape="1">
          <a:blip>
            <a:alphaModFix/>
          </a:blip>
          <a:srcRect l="8200" t="16477"/>
          <a:stretch/>
        </p:blipFill>
        <p:spPr>
          <a:xfrm>
            <a:off x="281343" y="1382927"/>
            <a:ext cx="1194314" cy="77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5" name="Google Shape;1565;p76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81342" y="2153087"/>
            <a:ext cx="8414724" cy="263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76"/>
          <p:cNvSpPr txBox="1"/>
          <p:nvPr/>
        </p:nvSpPr>
        <p:spPr>
          <a:xfrm>
            <a:off x="1820964" y="1414423"/>
            <a:ext cx="45872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 이벤트 발생 이력을 확인하는 화면</a:t>
            </a: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입니다.</a:t>
            </a:r>
            <a:b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rgbClr val="FAF1D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567" name="Google Shape;1567;p76"/>
          <p:cNvGraphicFramePr/>
          <p:nvPr/>
        </p:nvGraphicFramePr>
        <p:xfrm>
          <a:off x="425532" y="3765019"/>
          <a:ext cx="7778800" cy="2551770"/>
        </p:xfrm>
        <a:graphic>
          <a:graphicData uri="http://schemas.openxmlformats.org/drawingml/2006/table">
            <a:tbl>
              <a:tblPr>
                <a:noFill/>
                <a:tableStyleId>{2124DEBC-D79E-40AC-A51A-4CA8C37E4606}</a:tableStyleId>
              </a:tblPr>
              <a:tblGrid>
                <a:gridCol w="21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항목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역할 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b="1"/>
                        <a:t>id</a:t>
                      </a: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이벤트 로그의 고유 번호입니다.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b="1"/>
                        <a:t>event_time</a:t>
                      </a: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이벤트가 발생한 시간입니다.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b="1"/>
                        <a:t>event_type</a:t>
                      </a: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이벤트 종류입니다. 예: </a:t>
                      </a:r>
                      <a:r>
                        <a:rPr lang="ko-KR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AI_MODE</a:t>
                      </a:r>
                      <a:r>
                        <a:rPr lang="ko-KR" sz="1400"/>
                        <a:t>, </a:t>
                      </a:r>
                      <a:r>
                        <a:rPr lang="ko-KR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ROBOT_REQUEST</a:t>
                      </a: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b="1"/>
                        <a:t>cell_id</a:t>
                      </a: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이벤트가 특정 셀과 관련된 경우 해당 셀 번호를 표시합니다.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 b="1"/>
                        <a:t>message</a:t>
                      </a: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ko-KR" sz="1400"/>
                        <a:t>이벤트 상세 내용입니다. 예: AI 모드 활성화, 비활성화, 로봇 작업 요청 등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7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77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73" name="Google Shape;1573;p77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4" name="Google Shape;1574;p77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5" name="Google Shape;1575;p77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관리자 페이지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6" name="Google Shape;1576;p77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77" name="Google Shape;1577;p77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77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51520" y="2148822"/>
            <a:ext cx="8064896" cy="149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77"/>
          <p:cNvSpPr txBox="1"/>
          <p:nvPr/>
        </p:nvSpPr>
        <p:spPr>
          <a:xfrm>
            <a:off x="5137408" y="3980924"/>
            <a:ext cx="3467040" cy="2308324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관리자는 UI에서 </a:t>
            </a: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임계값 설정 기능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을 통해 식물 관리 기준을 직접 조정할 수 있습니다.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각 항목별로 </a:t>
            </a:r>
            <a:r>
              <a:rPr lang="ko-KR" sz="12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최소값, 최대값, 단위, 사용 여부</a:t>
            </a: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를 설정할 수 있으며, 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설정된 기준을 바탕으로 시스템이 실시간 데이터를 분석합니다.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설정값을 초과하거나 기준을 벗어나면 AI 분석 및 알림 기능과 연동되어, 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lang="ko-KR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관리자가 빠르게 이상 상태를 확인하고 대응할 수 있습니다.</a:t>
            </a:r>
            <a:endParaRPr/>
          </a:p>
        </p:txBody>
      </p:sp>
      <p:sp>
        <p:nvSpPr>
          <p:cNvPr id="1580" name="Google Shape;1580;p77"/>
          <p:cNvSpPr txBox="1"/>
          <p:nvPr/>
        </p:nvSpPr>
        <p:spPr>
          <a:xfrm>
            <a:off x="251520" y="4044836"/>
            <a:ext cx="4464496" cy="1015663"/>
          </a:xfrm>
          <a:prstGeom prst="rect">
            <a:avLst/>
          </a:prstGeom>
          <a:solidFill>
            <a:srgbClr val="262626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**관리항목</a:t>
            </a:r>
            <a:endParaRPr sz="12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1.disease_probability	- 식물의 질병 발생 가능성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2.humidity		- 셀 내부 습도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3.sap_amount_ml	- 식물 또는 셀에 공급되수액/양액량</a:t>
            </a:r>
            <a:endParaRPr sz="12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4.temperature	- 셀 내부 온도</a:t>
            </a:r>
            <a:endParaRPr/>
          </a:p>
        </p:txBody>
      </p:sp>
      <p:pic>
        <p:nvPicPr>
          <p:cNvPr id="1581" name="Google Shape;1581;p77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51520" y="1265170"/>
            <a:ext cx="1604514" cy="939693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77"/>
          <p:cNvSpPr txBox="1"/>
          <p:nvPr/>
        </p:nvSpPr>
        <p:spPr>
          <a:xfrm>
            <a:off x="1897611" y="1342509"/>
            <a:ext cx="45770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1D1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AF1D1"/>
                </a:solidFill>
                <a:latin typeface="Trebuchet MS"/>
                <a:ea typeface="Trebuchet MS"/>
                <a:cs typeface="Trebuchet MS"/>
                <a:sym typeface="Trebuchet MS"/>
              </a:rPr>
              <a:t>온도, 습도, 병해충 확률, 수액량 등의 임계값을 설정하고 관리합니다.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78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88" name="Google Shape;1588;p78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9" name="Google Shape;1589;p78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0" name="Google Shape;1590;p78"/>
          <p:cNvSpPr txBox="1"/>
          <p:nvPr/>
        </p:nvSpPr>
        <p:spPr>
          <a:xfrm>
            <a:off x="323528" y="692696"/>
            <a:ext cx="2880320" cy="34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- 관리자 검토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1" name="Google Shape;1591;p78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2" name="Google Shape;1592;p7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93" name="Google Shape;1593;p78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78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470661" y="1215987"/>
            <a:ext cx="6260272" cy="352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78"/>
          <p:cNvSpPr txBox="1"/>
          <p:nvPr/>
        </p:nvSpPr>
        <p:spPr>
          <a:xfrm>
            <a:off x="479149" y="4951011"/>
            <a:ext cx="4572000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>
                <a:solidFill>
                  <a:srgbClr val="0C1522"/>
                </a:solidFill>
                <a:latin typeface="Inter"/>
                <a:ea typeface="Inter"/>
                <a:cs typeface="Inter"/>
                <a:sym typeface="Inter"/>
              </a:rPr>
              <a:t>문제 셀, AI 위험도, 관리자 승인 대기 항목을 한 화면에서 검토합니다</a:t>
            </a:r>
            <a:endParaRPr sz="1800">
              <a:solidFill>
                <a:srgbClr val="0C15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6" name="Google Shape;1596;p78"/>
          <p:cNvSpPr txBox="1"/>
          <p:nvPr/>
        </p:nvSpPr>
        <p:spPr>
          <a:xfrm>
            <a:off x="479149" y="5597342"/>
            <a:ext cx="4587240" cy="9233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식물셀에서 위험 상태가 감지되면 AI 판단 결과를 기반으로 관리자에게 보식 작업 승인 알림을 제공합니다.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C32"/>
        </a:solidFill>
        <a:effectLst/>
      </p:bgPr>
    </p:bg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79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02" name="Google Shape;1602;p79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3" name="Google Shape;1603;p79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4" name="Google Shape;1604;p79"/>
          <p:cNvSpPr txBox="1"/>
          <p:nvPr/>
        </p:nvSpPr>
        <p:spPr>
          <a:xfrm>
            <a:off x="323528" y="692696"/>
            <a:ext cx="2880320" cy="25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메뉴 구성도 - 관리자 검토</a:t>
            </a:r>
            <a:endParaRPr sz="1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None/>
            </a:pP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5" name="Google Shape;1605;p79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06" name="Google Shape;1606;p79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79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408611" y="2181085"/>
            <a:ext cx="4043110" cy="2495830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79"/>
          <p:cNvSpPr txBox="1"/>
          <p:nvPr/>
        </p:nvSpPr>
        <p:spPr>
          <a:xfrm>
            <a:off x="4799243" y="1700808"/>
            <a:ext cx="3877213" cy="369331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위험 보식 승인 알림 기능</a:t>
            </a:r>
            <a:r>
              <a:rPr lang="ko-KR" sz="18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은 AI가 특정 식물셀에서 위험 상태를 감지했을 때, 관리자에게 보식 작업 승인 여부를 요청하는 기능입니다.</a:t>
            </a:r>
            <a:endParaRPr sz="1800">
              <a:solidFill>
                <a:srgbClr val="F2F2F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rgbClr val="F2F2F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AI가 병해충 또는 성장 이상 가능성을 분석해 </a:t>
            </a:r>
            <a:r>
              <a:rPr lang="ko-KR" sz="1800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DANGER</a:t>
            </a:r>
            <a:r>
              <a:rPr lang="ko-KR" sz="18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 상태로 판단하면, 해당 셀의 정보와 추천 작업이 알림 카드로 표시됩니다.</a:t>
            </a:r>
            <a:endParaRPr sz="1800">
              <a:solidFill>
                <a:srgbClr val="F2F2F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1800">
              <a:solidFill>
                <a:srgbClr val="F2F2F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Trebuchet MS"/>
              <a:buNone/>
            </a:pPr>
            <a:r>
              <a:rPr lang="ko-KR" sz="18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관리자는 알림을 확인한 뒤 보식 또는 영양 공급 작업을 승인하거나 검토 완료 처리할 수 있습니다.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80"/>
          <p:cNvGrpSpPr/>
          <p:nvPr/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614" name="Google Shape;1614;p8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5" name="Google Shape;1615;p8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16" name="Google Shape;1616;p80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7" name="Google Shape;1617;p80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8" name="Google Shape;1618;p8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9" name="Google Shape;1619;p80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0" name="Google Shape;1620;p80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1" name="Google Shape;1621;p80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2" name="Google Shape;1622;p8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3" name="Google Shape;1623;p80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624" name="Google Shape;1624;p8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25" name="Google Shape;1625;p80"/>
          <p:cNvCxnSpPr/>
          <p:nvPr/>
        </p:nvCxnSpPr>
        <p:spPr>
          <a:xfrm>
            <a:off x="1086225" y="0"/>
            <a:ext cx="914400" cy="6858000"/>
          </a:xfrm>
          <a:prstGeom prst="straightConnector1">
            <a:avLst/>
          </a:prstGeom>
          <a:noFill/>
          <a:ln w="9525" cap="flat" cmpd="sng">
            <a:solidFill>
              <a:srgbClr val="6B91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6" name="Google Shape;1626;p80"/>
          <p:cNvCxnSpPr/>
          <p:nvPr/>
        </p:nvCxnSpPr>
        <p:spPr>
          <a:xfrm flipH="1">
            <a:off x="50381" y="3681413"/>
            <a:ext cx="3572668" cy="3176587"/>
          </a:xfrm>
          <a:prstGeom prst="straightConnector1">
            <a:avLst/>
          </a:prstGeom>
          <a:noFill/>
          <a:ln w="9525" cap="flat" cmpd="sng">
            <a:solidFill>
              <a:srgbClr val="FEFEFE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7" name="Google Shape;1627;p80"/>
          <p:cNvSpPr/>
          <p:nvPr/>
        </p:nvSpPr>
        <p:spPr>
          <a:xfrm>
            <a:off x="944073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8" name="Google Shape;1628;p80"/>
          <p:cNvSpPr/>
          <p:nvPr/>
        </p:nvSpPr>
        <p:spPr>
          <a:xfrm>
            <a:off x="12605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9" name="Google Shape;1629;p80"/>
          <p:cNvSpPr/>
          <p:nvPr/>
        </p:nvSpPr>
        <p:spPr>
          <a:xfrm>
            <a:off x="757215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15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0" name="Google Shape;1630;p80"/>
          <p:cNvSpPr/>
          <p:nvPr/>
        </p:nvSpPr>
        <p:spPr>
          <a:xfrm>
            <a:off x="10588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E781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1" name="Google Shape;1631;p80"/>
          <p:cNvSpPr/>
          <p:nvPr/>
        </p:nvSpPr>
        <p:spPr>
          <a:xfrm>
            <a:off x="18367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2" name="Google Shape;1632;p80"/>
          <p:cNvSpPr/>
          <p:nvPr/>
        </p:nvSpPr>
        <p:spPr>
          <a:xfrm>
            <a:off x="2262215" y="-8467"/>
            <a:ext cx="6881785" cy="6866467"/>
          </a:xfrm>
          <a:custGeom>
            <a:avLst/>
            <a:gdLst/>
            <a:ahLst/>
            <a:cxnLst/>
            <a:rect l="l" t="t" r="r" b="b"/>
            <a:pathLst>
              <a:path w="9175713" h="6866467" extrusionOk="0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3" name="Google Shape;1633;p80"/>
          <p:cNvSpPr txBox="1">
            <a:spLocks noGrp="1"/>
          </p:cNvSpPr>
          <p:nvPr>
            <p:ph type="title"/>
          </p:nvPr>
        </p:nvSpPr>
        <p:spPr>
          <a:xfrm>
            <a:off x="3314352" y="1020871"/>
            <a:ext cx="5220569" cy="284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lang="ko-KR" sz="5200">
                <a:solidFill>
                  <a:srgbClr val="FFFFFF"/>
                </a:solidFill>
              </a:rPr>
              <a:t>프로잭트 참조 및 관리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1634" name="Google Shape;1634;p80"/>
          <p:cNvSpPr/>
          <p:nvPr/>
        </p:nvSpPr>
        <p:spPr>
          <a:xfrm rot="5400000">
            <a:off x="3019339" y="3294792"/>
            <a:ext cx="220660" cy="139829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5" name="Google Shape;1635;p80"/>
          <p:cNvSpPr txBox="1">
            <a:spLocks noGrp="1"/>
          </p:cNvSpPr>
          <p:nvPr>
            <p:ph type="ftr" idx="11"/>
          </p:nvPr>
        </p:nvSpPr>
        <p:spPr>
          <a:xfrm>
            <a:off x="3314352" y="6041362"/>
            <a:ext cx="27632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한이음 ▶ 프로그램 설계서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81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41" name="Google Shape;1641;p81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2" name="Google Shape;1642;p81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3" name="Google Shape;1643;p81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참조-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동영상 촬영 콘티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4" name="Google Shape;1644;p81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5" name="Google Shape;1645;p81"/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46" name="Google Shape;1646;p81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8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52" name="Google Shape;1652;p82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3" name="Google Shape;1653;p82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4" name="Google Shape;1654;p8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참조-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관리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55" name="Google Shape;1655;p82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56" name="Google Shape;1656;p82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82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7504" y="1555314"/>
            <a:ext cx="7095252" cy="21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82"/>
          <p:cNvSpPr txBox="1"/>
          <p:nvPr/>
        </p:nvSpPr>
        <p:spPr>
          <a:xfrm>
            <a:off x="722464" y="5157192"/>
            <a:ext cx="45872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https://drive.google.com/drive/folders/1I0clueM3rRFAS95cF1BC3ihl6Df4eD0n</a:t>
            </a:r>
            <a:endParaRPr/>
          </a:p>
        </p:txBody>
      </p:sp>
      <p:sp>
        <p:nvSpPr>
          <p:cNvPr id="1659" name="Google Shape;1659;p82"/>
          <p:cNvSpPr txBox="1"/>
          <p:nvPr/>
        </p:nvSpPr>
        <p:spPr>
          <a:xfrm>
            <a:off x="722464" y="4201879"/>
            <a:ext cx="45872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Drive를 활용해 리소스를 공유하고, 설계 파일과 도면을 통합 관리합니다.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8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65" name="Google Shape;1665;p83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6" name="Google Shape;1666;p83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7" name="Google Shape;1667;p83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참조-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관리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68" name="Google Shape;1668;p83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8676456" y="476671"/>
            <a:ext cx="454960" cy="1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83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0" name="Google Shape;1670;p83"/>
          <p:cNvSpPr/>
          <p:nvPr/>
        </p:nvSpPr>
        <p:spPr>
          <a:xfrm>
            <a:off x="107504" y="4545789"/>
            <a:ext cx="8252100" cy="36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Notion을 활용해 전체 회의 문서와 파트별 문서를 체계적으로 관리합니다</a:t>
            </a:r>
            <a:r>
              <a:rPr lang="ko-KR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 b="1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1" name="Google Shape;1671;p83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83"/>
          <p:cNvSpPr txBox="1"/>
          <p:nvPr/>
        </p:nvSpPr>
        <p:spPr>
          <a:xfrm>
            <a:off x="838220" y="5237677"/>
            <a:ext cx="45872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https://www.notion.so/STREW_VISION-359df5ba9e0280d39fc7eae4bca2d8a8?source=copy_link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3" name="Google Shape;1673;p83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603350" y="1579122"/>
            <a:ext cx="5984929" cy="2642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84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79" name="Google Shape;1679;p84"/>
          <p:cNvCxnSpPr/>
          <p:nvPr/>
        </p:nvCxnSpPr>
        <p:spPr>
          <a:xfrm>
            <a:off x="424356" y="541195"/>
            <a:ext cx="2591728" cy="0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0" name="Google Shape;1680;p84"/>
          <p:cNvCxnSpPr/>
          <p:nvPr/>
        </p:nvCxnSpPr>
        <p:spPr>
          <a:xfrm>
            <a:off x="3275856" y="548680"/>
            <a:ext cx="5328592" cy="0"/>
          </a:xfrm>
          <a:prstGeom prst="straightConnector1">
            <a:avLst/>
          </a:prstGeom>
          <a:noFill/>
          <a:ln w="28575" cap="flat" cmpd="sng">
            <a:solidFill>
              <a:srgbClr val="3B5A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1" name="Google Shape;1681;p84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rebuchet MS"/>
              <a:buNone/>
            </a:pPr>
            <a:r>
              <a:rPr lang="ko-KR" sz="17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| 참조-</a:t>
            </a:r>
            <a:r>
              <a:rPr lang="ko-KR" sz="17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관리</a:t>
            </a:r>
            <a:endParaRPr sz="17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2" name="Google Shape;1682;p84"/>
          <p:cNvSpPr/>
          <p:nvPr/>
        </p:nvSpPr>
        <p:spPr>
          <a:xfrm rot="10800000" flipH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lt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83" name="Google Shape;1683;p84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4" name="Google Shape;1684;p84"/>
          <p:cNvSpPr txBox="1"/>
          <p:nvPr/>
        </p:nvSpPr>
        <p:spPr>
          <a:xfrm>
            <a:off x="982236" y="5650057"/>
            <a:ext cx="58940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https://github.com/Leechanyeop/STREW_VISION</a:t>
            </a:r>
            <a:endParaRPr/>
          </a:p>
        </p:txBody>
      </p:sp>
      <p:pic>
        <p:nvPicPr>
          <p:cNvPr id="1685" name="Google Shape;1685;p84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603350" y="1527140"/>
            <a:ext cx="6187493" cy="2757966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84"/>
          <p:cNvSpPr txBox="1"/>
          <p:nvPr/>
        </p:nvSpPr>
        <p:spPr>
          <a:xfrm>
            <a:off x="959148" y="4519658"/>
            <a:ext cx="45872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ko-KR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GitHub을 활용해 서버 프로그램 코드 작성, 업데이트, 버전 관리를 체계적으로 수행합니다.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85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 b="1">
                <a:solidFill>
                  <a:srgbClr val="3B5AA8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5000" b="1">
              <a:solidFill>
                <a:srgbClr val="3B5AA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3" name="Google Shape;1693;p85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한이음 ▶ 프로그램 설계서</a:t>
            </a:r>
            <a:endParaRPr/>
          </a:p>
        </p:txBody>
      </p:sp>
      <p:pic>
        <p:nvPicPr>
          <p:cNvPr id="1694" name="Google Shape;1694;p85"/>
          <p:cNvPicPr preferRelativeResize="0"/>
          <p:nvPr/>
        </p:nvPicPr>
        <p:blipFill rotWithShape="1">
          <a:blip r:embed="rId3">
            <a:alphaModFix/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패싯">
  <a:themeElements>
    <a:clrScheme name="패싯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4137A6-B816-42EE-9100-14C75E59C714}">
  <we:reference id="cba9fc06-6fc9-492e-9525-923870a3b909" version="2.0.0.0" store="EXCatalog" storeType="EXCatalog"/>
  <we:alternateReferences>
    <we:reference id="WA200010215" version="2.0.0.0" store="ko-KR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84A4CA79447DC48A163C3EAF6A971E9" ma:contentTypeVersion="4" ma:contentTypeDescription="새 문서를 만듭니다." ma:contentTypeScope="" ma:versionID="4802f5dc7577ca596c30edb399d6bd29">
  <xsd:schema xmlns:xsd="http://www.w3.org/2001/XMLSchema" xmlns:xs="http://www.w3.org/2001/XMLSchema" xmlns:p="http://schemas.microsoft.com/office/2006/metadata/properties" xmlns:ns3="46fc5eef-d98d-4013-b026-5ef5f085a1b7" targetNamespace="http://schemas.microsoft.com/office/2006/metadata/properties" ma:root="true" ma:fieldsID="8a42acc37fd1cc6537b0b009e4c4eebb" ns3:_="">
    <xsd:import namespace="46fc5eef-d98d-4013-b026-5ef5f085a1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c5eef-d98d-4013-b026-5ef5f085a1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9FE7AC-E495-414F-83A9-0BE65B3848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c5eef-d98d-4013-b026-5ef5f085a1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FB89E3-02E8-46C8-8E62-7F21ADB0DB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A3C1C1-7289-408B-8C58-4EE93F3B82D1}">
  <ds:schemaRefs>
    <ds:schemaRef ds:uri="http://schemas.microsoft.com/office/2006/documentManagement/types"/>
    <ds:schemaRef ds:uri="http://schemas.microsoft.com/office/2006/metadata/properties"/>
    <ds:schemaRef ds:uri="46fc5eef-d98d-4013-b026-5ef5f085a1b7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7327</Words>
  <Application>Microsoft Office PowerPoint</Application>
  <PresentationFormat>화면 슬라이드 쇼(4:3)</PresentationFormat>
  <Paragraphs>1166</Paragraphs>
  <Slides>89</Slides>
  <Notes>89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89</vt:i4>
      </vt:variant>
    </vt:vector>
  </HeadingPairs>
  <TitlesOfParts>
    <vt:vector size="99" baseType="lpstr">
      <vt:lpstr>Noto Sans Symbols</vt:lpstr>
      <vt:lpstr>Courier New</vt:lpstr>
      <vt:lpstr>Malgun Gothic</vt:lpstr>
      <vt:lpstr>Inter</vt:lpstr>
      <vt:lpstr>Arial</vt:lpstr>
      <vt:lpstr>Trebuchet MS</vt:lpstr>
      <vt:lpstr>Calibri</vt:lpstr>
      <vt:lpstr>패싯</vt:lpstr>
      <vt:lpstr>패싯</vt:lpstr>
      <vt:lpstr>HDOfficeLightV0</vt:lpstr>
      <vt:lpstr>PowerPoint 프레젠테이션</vt:lpstr>
      <vt:lpstr>PowerPoint 프레젠테이션</vt:lpstr>
      <vt:lpstr>환경 및 요구사항 분석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시스템 아키텍쳐설계 (system architecture configuration)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하드웨어 기능 설계  ( Hardware funtion design 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데이터 베이스 설계  (DATABASE)</vt:lpstr>
      <vt:lpstr>전체데이터 구조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소프트웨어기능 설계  (Software funtion design)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사용자 인터페이스 설계  (User Interface design)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프로잭트 참조 및 관리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이낙선</dc:creator>
  <cp:lastModifiedBy>lee chan yeop</cp:lastModifiedBy>
  <cp:revision>2</cp:revision>
  <dcterms:created xsi:type="dcterms:W3CDTF">2014-04-16T00:55:54Z</dcterms:created>
  <dcterms:modified xsi:type="dcterms:W3CDTF">2026-06-23T12:18:24Z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0x010100C84A4CA79447DC48A163C3EAF6A971E9</vt:lpwstr>
  </property>
</Properties>
</file>